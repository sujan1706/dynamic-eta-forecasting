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Baseline</c:v>
                </c:pt>
              </c:strCache>
            </c:strRef>
          </c:tx>
          <c:spPr>
            <a:solidFill>
              <a:srgbClr val="9FB0C3"/>
            </a:solidFill>
            <a:effectLst/>
          </c:spPr>
          <c:invertIfNegative val="0"/>
          <c:dLbls>
            <c:numFmt formatCode="0.0" sourceLinked="0"/>
            <c:txPr>
              <a:bodyPr/>
              <a:lstStyle/>
              <a:p>
                <a:pPr>
                  <a:defRPr b="0" i="0" strike="noStrike" sz="1000" u="none">
                    <a:solidFill>
                      <a:srgbClr val="1B2B3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 station: +92.2%</c:v>
                  </c:pt>
                  <c:pt idx="1">
                    <c:v>3 stations: +44.8%</c:v>
                  </c:pt>
                  <c:pt idx="2">
                    <c:v>5 stations: +24.0%</c:v>
                  </c:pt>
                </c:lvl>
              </c:multiLvlStrCache>
            </c:multiLvlStrRef>
          </c:cat>
          <c:val>
            <c:numRef>
              <c:f>Sheet1!$B$2:$B$4</c:f>
              <c:numCache>
                <c:formatCode>General</c:formatCode>
                <c:ptCount val="3"/>
                <c:pt idx="0">
                  <c:v>66.47</c:v>
                </c:pt>
                <c:pt idx="1">
                  <c:v>78.83</c:v>
                </c:pt>
                <c:pt idx="2">
                  <c:v>87.32</c:v>
                </c:pt>
              </c:numCache>
            </c:numRef>
          </c:val>
        </c:ser>
        <c:ser>
          <c:idx val="1"/>
          <c:order val="1"/>
          <c:tx>
            <c:strRef>
              <c:f>Sheet1!$C$1</c:f>
              <c:strCache>
                <c:ptCount val="1"/>
                <c:pt idx="0">
                  <c:v>XGBoost ML</c:v>
                </c:pt>
              </c:strCache>
            </c:strRef>
          </c:tx>
          <c:spPr>
            <a:solidFill>
              <a:srgbClr val="0FA3B1"/>
            </a:solidFill>
            <a:effectLst/>
          </c:spPr>
          <c:invertIfNegative val="0"/>
          <c:dLbls>
            <c:numFmt formatCode="0.0" sourceLinked="0"/>
            <c:txPr>
              <a:bodyPr/>
              <a:lstStyle/>
              <a:p>
                <a:pPr>
                  <a:defRPr b="0" i="0" strike="noStrike" sz="1000" u="none">
                    <a:solidFill>
                      <a:srgbClr val="1B2B3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 station: +92.2%</c:v>
                  </c:pt>
                  <c:pt idx="1">
                    <c:v>3 stations: +44.8%</c:v>
                  </c:pt>
                  <c:pt idx="2">
                    <c:v>5 stations: +24.0%</c:v>
                  </c:pt>
                </c:lvl>
              </c:multiLvlStrCache>
            </c:multiLvlStrRef>
          </c:cat>
          <c:val>
            <c:numRef>
              <c:f>Sheet1!$C$2:$C$4</c:f>
              <c:numCache>
                <c:formatCode>General</c:formatCode>
                <c:ptCount val="3"/>
                <c:pt idx="0">
                  <c:v>5.17</c:v>
                </c:pt>
                <c:pt idx="1">
                  <c:v>43.53</c:v>
                </c:pt>
                <c:pt idx="2">
                  <c:v>66.34</c:v>
                </c:pt>
              </c:numCache>
            </c:numRef>
          </c:val>
        </c:ser>
        <c:dLbls>
          <c:numFmt formatCode="0.0" sourceLinked="0"/>
          <c:txPr>
            <a:bodyPr/>
            <a:lstStyle/>
            <a:p>
              <a:pPr>
                <a:defRPr b="0" i="0" strike="noStrike" sz="1000" u="none">
                  <a:solidFill>
                    <a:srgbClr val="1B2B3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B3A"/>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AF0"/>
              </a:solidFill>
              <a:prstDash val="solid"/>
              <a:round/>
            </a:ln>
          </c:spPr>
        </c:majorGridlines>
        <c:title>
          <c:tx>
            <c:rich>
              <a:bodyPr/>
              <a:lstStyle/>
              <a:p>
                <a:pPr>
                  <a:defRPr sz="900" b="0" i="0" u="none" strike="noStrike">
                    <a:solidFill>
                      <a:srgbClr val="5B6B7B"/>
                    </a:solidFill>
                    <a:latin typeface="Arial"/>
                  </a:defRPr>
                </a:pPr>
                <a:r>
                  <a:rPr sz="900" b="0" i="0" u="none" strike="noStrike">
                    <a:solidFill>
                      <a:srgbClr val="5B6B7B"/>
                    </a:solidFill>
                    <a:latin typeface="Arial"/>
                  </a:rPr>
                  <a:t>MAE (minutes)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B"/>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solidFill>
                <a:srgbClr val="1B2B3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a lightweight, data-driven ETA engine for coaching trains (PS 26028). Dataset: 8 express trains on 3 corridors, 200 simulated journeys, 6,125 checkpoint samples. All data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ranges come from the simulator's five event types. Baseline = scheduled arrival + current delay - recovery buffer (2.5 min per 100 km). The 74.11 min figure is its average error (MAE) on 40 held-out synthetic journeys.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a lightweight, data-driven ETA engine for coaching trains (PS 26028). The four objectives map to the four stages of the system: simulate, predict, serve,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The simulator is the default source; the optional RailRadar live API is used when a key is set and falls back to the simulator on errors or rate limits. The engine builds features and produces a baseline and an XGBoost ETA; FastAPI serves them to four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Simulator to features to prediction to API to screens. The prediction step predicts the delay relative to the timetable (a schedule residual), which is what made the ML model beat the baseline at every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Percentages in the axis labels are the ML improvement over the baseline at each horizon. Before the residual fix the ML model lost to the baseline at 3 and 5 stations ahead; after it, ML wins in every horizon and regime. Overall RMSE falls from 102.01 to 48.09 min. All figures are from the synthetic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screens read the same typed FastAPI. Injecting a disruption through POST /simulate/event updates the train state and both ETAs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the evaluation is on synthetic data. The confidence band (5.0 x sqrt(segments ahead) min) is an uncalibrated heuristic, and two historical features are fixed defaults until real logs are available. Authentication and load testing are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457200" y="320040"/>
            <a:ext cx="6035040" cy="2286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ALVA'S INSTITUTE OF ENGINEERING AND TECHNOLOGY</a:t>
            </a:r>
            <a:endParaRPr lang="en-US" sz="1200" dirty="0"/>
          </a:p>
        </p:txBody>
      </p:sp>
      <p:sp>
        <p:nvSpPr>
          <p:cNvPr id="3" name="Text 1"/>
          <p:cNvSpPr txBox="1"/>
          <p:nvPr/>
        </p:nvSpPr>
        <p:spPr>
          <a:xfrm>
            <a:off x="457200" y="576072"/>
            <a:ext cx="6035040" cy="182880"/>
          </a:xfrm>
          <a:prstGeom prst="rect">
            <a:avLst/>
          </a:prstGeom>
          <a:noFill/>
          <a:ln/>
        </p:spPr>
        <p:txBody>
          <a:bodyPr wrap="square" lIns="0" tIns="0" rIns="0" bIns="0" rtlCol="0" anchor="t"/>
          <a:lstStyle/>
          <a:p>
            <a:pPr indent="0" marL="0">
              <a:buNone/>
            </a:pPr>
            <a:r>
              <a:rPr lang="en-US" sz="900" dirty="0">
                <a:solidFill>
                  <a:srgbClr val="B9C7D6"/>
                </a:solidFill>
                <a:latin typeface="Calibri" pitchFamily="34" charset="0"/>
                <a:ea typeface="Calibri" pitchFamily="34" charset="-122"/>
                <a:cs typeface="Calibri" pitchFamily="34" charset="-120"/>
              </a:rPr>
              <a:t>MIJAR, MOODBIDRI - 574225, KARNATAKA</a:t>
            </a:r>
            <a:endParaRPr lang="en-US" sz="900" dirty="0"/>
          </a:p>
        </p:txBody>
      </p:sp>
      <p:sp>
        <p:nvSpPr>
          <p:cNvPr id="4" name="Text 2"/>
          <p:cNvSpPr txBox="1"/>
          <p:nvPr/>
        </p:nvSpPr>
        <p:spPr>
          <a:xfrm>
            <a:off x="457200" y="987552"/>
            <a:ext cx="6035040" cy="201168"/>
          </a:xfrm>
          <a:prstGeom prst="rect">
            <a:avLst/>
          </a:prstGeom>
          <a:noFill/>
          <a:ln/>
        </p:spPr>
        <p:txBody>
          <a:bodyPr wrap="square" lIns="0" tIns="0" rIns="0" bIns="0" rtlCol="0" anchor="t"/>
          <a:lstStyle/>
          <a:p>
            <a:pPr indent="0" marL="0">
              <a:buNone/>
            </a:pPr>
            <a:r>
              <a:rPr lang="en-US" sz="1000" b="1" spc="200" kern="0" dirty="0">
                <a:solidFill>
                  <a:srgbClr val="F2A541"/>
                </a:solidFill>
                <a:latin typeface="Calibri" pitchFamily="34" charset="0"/>
                <a:ea typeface="Calibri" pitchFamily="34" charset="-122"/>
                <a:cs typeface="Calibri" pitchFamily="34" charset="-120"/>
              </a:rPr>
              <a:t>PROJECT PRESENTATION  on</a:t>
            </a:r>
            <a:endParaRPr lang="en-US" sz="1000" dirty="0"/>
          </a:p>
        </p:txBody>
      </p:sp>
      <p:sp>
        <p:nvSpPr>
          <p:cNvPr id="5" name="Text 3"/>
          <p:cNvSpPr txBox="1"/>
          <p:nvPr/>
        </p:nvSpPr>
        <p:spPr>
          <a:xfrm>
            <a:off x="457200" y="1243584"/>
            <a:ext cx="5943600" cy="86868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Dynamic Forecast of Expected Time of Arrival (ETA) for Coaching Trains</a:t>
            </a:r>
            <a:endParaRPr lang="en-US" sz="2400" dirty="0"/>
          </a:p>
        </p:txBody>
      </p:sp>
      <p:sp>
        <p:nvSpPr>
          <p:cNvPr id="6" name="Text 4"/>
          <p:cNvSpPr txBox="1"/>
          <p:nvPr/>
        </p:nvSpPr>
        <p:spPr>
          <a:xfrm>
            <a:off x="457200" y="2176272"/>
            <a:ext cx="5943600" cy="237744"/>
          </a:xfrm>
          <a:prstGeom prst="rect">
            <a:avLst/>
          </a:prstGeom>
          <a:noFill/>
          <a:ln/>
        </p:spPr>
        <p:txBody>
          <a:bodyPr wrap="square" lIns="0" tIns="0" rIns="0" bIns="0" rtlCol="0" anchor="t"/>
          <a:lstStyle/>
          <a:p>
            <a:pPr indent="0" marL="0">
              <a:buNone/>
            </a:pPr>
            <a:r>
              <a:rPr lang="en-US" sz="1200" i="1" dirty="0">
                <a:solidFill>
                  <a:srgbClr val="7FD6DE"/>
                </a:solidFill>
                <a:latin typeface="Calibri" pitchFamily="34" charset="0"/>
                <a:ea typeface="Calibri" pitchFamily="34" charset="-122"/>
                <a:cs typeface="Calibri" pitchFamily="34" charset="-120"/>
              </a:rPr>
              <a:t>Data-driven arrival-time prediction for Indian Railways</a:t>
            </a:r>
            <a:endParaRPr lang="en-US" sz="1200" dirty="0"/>
          </a:p>
        </p:txBody>
      </p:sp>
      <p:sp>
        <p:nvSpPr>
          <p:cNvPr id="7" name="Text 5"/>
          <p:cNvSpPr txBox="1"/>
          <p:nvPr/>
        </p:nvSpPr>
        <p:spPr>
          <a:xfrm>
            <a:off x="457200" y="2606040"/>
            <a:ext cx="6035040" cy="548640"/>
          </a:xfrm>
          <a:prstGeom prst="rect">
            <a:avLst/>
          </a:prstGeom>
          <a:noFill/>
          <a:ln/>
        </p:spPr>
        <p:txBody>
          <a:bodyPr wrap="square" lIns="0" tIns="0" rIns="0" bIns="0" rtlCol="0" anchor="t"/>
          <a:lstStyle/>
          <a:p>
            <a:pPr indent="0" marL="0">
              <a:spcAft>
                <a:spcPts val="300"/>
              </a:spcAft>
              <a:buNone/>
            </a:pPr>
            <a:r>
              <a:rPr lang="en-US" sz="950" dirty="0">
                <a:solidFill>
                  <a:srgbClr val="B9C7D6"/>
                </a:solidFill>
                <a:latin typeface="Calibri" pitchFamily="34" charset="0"/>
                <a:ea typeface="Calibri" pitchFamily="34" charset="-122"/>
                <a:cs typeface="Calibri" pitchFamily="34" charset="-120"/>
              </a:rPr>
              <a:t>A project submitted in partial fulfillment of the requirements for the award of the degree of</a:t>
            </a:r>
            <a:endParaRPr lang="en-US" sz="950" dirty="0"/>
          </a:p>
          <a:p>
            <a:pPr indent="0" marL="0">
              <a:spcAft>
                <a:spcPts val="300"/>
              </a:spcAft>
              <a:buNone/>
            </a:pPr>
            <a:r>
              <a:rPr lang="en-US" sz="1100" b="1" dirty="0">
                <a:solidFill>
                  <a:srgbClr val="FFFFFF"/>
                </a:solidFill>
                <a:latin typeface="Calibri" pitchFamily="34" charset="0"/>
                <a:ea typeface="Calibri" pitchFamily="34" charset="-122"/>
                <a:cs typeface="Calibri" pitchFamily="34" charset="-120"/>
              </a:rPr>
              <a:t>BACHELOR OF ENGINEERING  in  COMPUTER SCIENCE AND ENGINEERING</a:t>
            </a:r>
            <a:endParaRPr lang="en-US" sz="950" dirty="0"/>
          </a:p>
        </p:txBody>
      </p:sp>
      <p:sp>
        <p:nvSpPr>
          <p:cNvPr id="8" name="Text 6"/>
          <p:cNvSpPr txBox="1"/>
          <p:nvPr/>
        </p:nvSpPr>
        <p:spPr>
          <a:xfrm>
            <a:off x="457200" y="3337560"/>
            <a:ext cx="3291840" cy="914400"/>
          </a:xfrm>
          <a:prstGeom prst="rect">
            <a:avLst/>
          </a:prstGeom>
          <a:noFill/>
          <a:ln/>
        </p:spPr>
        <p:txBody>
          <a:bodyPr wrap="square" lIns="0" tIns="0" rIns="0" bIns="0" rtlCol="0" anchor="t"/>
          <a:lstStyle/>
          <a:p>
            <a:pPr indent="0" marL="0">
              <a:spcAft>
                <a:spcPts val="300"/>
              </a:spcAft>
              <a:buNone/>
            </a:pPr>
            <a:r>
              <a:rPr lang="en-US" sz="900" b="1" spc="150" kern="0" dirty="0">
                <a:solidFill>
                  <a:srgbClr val="F2A541"/>
                </a:solidFill>
                <a:latin typeface="Calibri" pitchFamily="34" charset="0"/>
                <a:ea typeface="Calibri" pitchFamily="34" charset="-122"/>
                <a:cs typeface="Calibri" pitchFamily="34" charset="-120"/>
              </a:rPr>
              <a:t>SUBMITTED BY</a:t>
            </a:r>
            <a:endParaRPr lang="en-US" sz="900" dirty="0"/>
          </a:p>
          <a:p>
            <a:pPr indent="0" marL="0">
              <a:spcAft>
                <a:spcPts val="300"/>
              </a:spcAft>
              <a:buNone/>
            </a:pPr>
            <a:r>
              <a:rPr lang="en-US" sz="1100" b="1" dirty="0">
                <a:solidFill>
                  <a:srgbClr val="FFFFFF"/>
                </a:solidFill>
                <a:latin typeface="Calibri" pitchFamily="34" charset="0"/>
                <a:ea typeface="Calibri" pitchFamily="34" charset="-122"/>
                <a:cs typeface="Calibri" pitchFamily="34" charset="-120"/>
              </a:rPr>
              <a:t>SUJAN K S   |   4AL23CS164</a:t>
            </a:r>
            <a:endParaRPr lang="en-US" sz="900" dirty="0"/>
          </a:p>
          <a:p>
            <a:pPr indent="0" marL="0">
              <a:spcAft>
                <a:spcPts val="300"/>
              </a:spcAft>
              <a:buNone/>
            </a:pPr>
            <a:r>
              <a:rPr lang="en-US" sz="1100" b="1" dirty="0">
                <a:solidFill>
                  <a:srgbClr val="FFFFFF"/>
                </a:solidFill>
                <a:latin typeface="Calibri" pitchFamily="34" charset="0"/>
                <a:ea typeface="Calibri" pitchFamily="34" charset="-122"/>
                <a:cs typeface="Calibri" pitchFamily="34" charset="-120"/>
              </a:rPr>
              <a:t>RAKESH K   |   4AL23CS117</a:t>
            </a:r>
            <a:endParaRPr lang="en-US" sz="900" dirty="0"/>
          </a:p>
          <a:p>
            <a:pPr indent="0" marL="0">
              <a:spcAft>
                <a:spcPts val="300"/>
              </a:spcAft>
              <a:buNone/>
            </a:pPr>
            <a:r>
              <a:rPr lang="en-US" sz="1000" b="1" dirty="0">
                <a:solidFill>
                  <a:srgbClr val="7FD6DE"/>
                </a:solidFill>
                <a:latin typeface="Calibri" pitchFamily="34" charset="0"/>
                <a:ea typeface="Calibri" pitchFamily="34" charset="-122"/>
                <a:cs typeface="Calibri" pitchFamily="34" charset="-120"/>
              </a:rPr>
              <a:t>TEAM RAKESH</a:t>
            </a:r>
            <a:endParaRPr lang="en-US" sz="900" dirty="0"/>
          </a:p>
        </p:txBody>
      </p:sp>
      <p:sp>
        <p:nvSpPr>
          <p:cNvPr id="9" name="Text 7"/>
          <p:cNvSpPr txBox="1"/>
          <p:nvPr/>
        </p:nvSpPr>
        <p:spPr>
          <a:xfrm>
            <a:off x="3931920" y="3337560"/>
            <a:ext cx="2560320" cy="548640"/>
          </a:xfrm>
          <a:prstGeom prst="rect">
            <a:avLst/>
          </a:prstGeom>
          <a:noFill/>
          <a:ln/>
        </p:spPr>
        <p:txBody>
          <a:bodyPr wrap="square" lIns="0" tIns="0" rIns="0" bIns="0" rtlCol="0" anchor="t"/>
          <a:lstStyle/>
          <a:p>
            <a:pPr indent="0" marL="0">
              <a:spcAft>
                <a:spcPts val="300"/>
              </a:spcAft>
              <a:buNone/>
            </a:pPr>
            <a:r>
              <a:rPr lang="en-US" sz="900" b="1" spc="150" kern="0" dirty="0">
                <a:solidFill>
                  <a:srgbClr val="F2A541"/>
                </a:solidFill>
                <a:latin typeface="Calibri" pitchFamily="34" charset="0"/>
                <a:ea typeface="Calibri" pitchFamily="34" charset="-122"/>
                <a:cs typeface="Calibri" pitchFamily="34" charset="-120"/>
              </a:rPr>
              <a:t>UNDER THE SUPERVISION OF</a:t>
            </a:r>
            <a:endParaRPr lang="en-US" sz="900" dirty="0"/>
          </a:p>
          <a:p>
            <a:pPr indent="0" marL="0">
              <a:spcAft>
                <a:spcPts val="300"/>
              </a:spcAft>
              <a:buNone/>
            </a:pPr>
            <a:r>
              <a:rPr lang="en-US" sz="1100" b="1" dirty="0">
                <a:solidFill>
                  <a:srgbClr val="FFFFFF"/>
                </a:solidFill>
                <a:latin typeface="Calibri" pitchFamily="34" charset="0"/>
                <a:ea typeface="Calibri" pitchFamily="34" charset="-122"/>
                <a:cs typeface="Calibri" pitchFamily="34" charset="-120"/>
              </a:rPr>
              <a:t>ANJIT RAJA R</a:t>
            </a:r>
            <a:endParaRPr lang="en-US" sz="900" dirty="0"/>
          </a:p>
        </p:txBody>
      </p:sp>
      <p:sp>
        <p:nvSpPr>
          <p:cNvPr id="10" name="Text 8"/>
          <p:cNvSpPr txBox="1"/>
          <p:nvPr/>
        </p:nvSpPr>
        <p:spPr>
          <a:xfrm>
            <a:off x="457200" y="4526280"/>
            <a:ext cx="6400800" cy="22860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DEPARTMENT OF COMPUTER SCIENCE AND ENGINEERING   </a:t>
            </a:r>
            <a:pPr indent="0" marL="0">
              <a:buNone/>
            </a:pPr>
            <a:r>
              <a:rPr lang="en-US" sz="1000" b="1" dirty="0">
                <a:solidFill>
                  <a:srgbClr val="F2A541"/>
                </a:solidFill>
                <a:latin typeface="Calibri" pitchFamily="34" charset="0"/>
                <a:ea typeface="Calibri" pitchFamily="34" charset="-122"/>
                <a:cs typeface="Calibri" pitchFamily="34" charset="-120"/>
              </a:rPr>
              <a:t>2025 – 2026</a:t>
            </a:r>
            <a:endParaRPr lang="en-US" sz="1000" dirty="0"/>
          </a:p>
        </p:txBody>
      </p:sp>
      <p:sp>
        <p:nvSpPr>
          <p:cNvPr id="11" name="Shape 9"/>
          <p:cNvSpPr/>
          <p:nvPr/>
        </p:nvSpPr>
        <p:spPr>
          <a:xfrm>
            <a:off x="6949440" y="365760"/>
            <a:ext cx="1645920" cy="1920240"/>
          </a:xfrm>
          <a:prstGeom prst="roundRect">
            <a:avLst>
              <a:gd name="adj" fmla="val 4444"/>
            </a:avLst>
          </a:prstGeom>
          <a:solidFill>
            <a:srgbClr val="FFFFFF"/>
          </a:solidFill>
          <a:ln w="12700">
            <a:solidFill>
              <a:srgbClr val="FFFFFF"/>
            </a:solidFill>
            <a:prstDash val="solid"/>
          </a:ln>
        </p:spPr>
      </p:sp>
      <p:pic>
        <p:nvPicPr>
          <p:cNvPr id="12" name="Image 0" descr="logo.png">    </p:cNvPr>
          <p:cNvPicPr>
            <a:picLocks noChangeAspect="1"/>
          </p:cNvPicPr>
          <p:nvPr/>
        </p:nvPicPr>
        <p:blipFill>
          <a:blip r:embed="rId1"/>
          <a:stretch>
            <a:fillRect/>
          </a:stretch>
        </p:blipFill>
        <p:spPr>
          <a:xfrm>
            <a:off x="7159752" y="502920"/>
            <a:ext cx="1225296" cy="1481328"/>
          </a:xfrm>
          <a:prstGeom prst="rect">
            <a:avLst/>
          </a:prstGeom>
        </p:spPr>
      </p:pic>
      <p:sp>
        <p:nvSpPr>
          <p:cNvPr id="13" name="Shape 10"/>
          <p:cNvSpPr/>
          <p:nvPr/>
        </p:nvSpPr>
        <p:spPr>
          <a:xfrm>
            <a:off x="7086600" y="2788920"/>
            <a:ext cx="0" cy="1371600"/>
          </a:xfrm>
          <a:prstGeom prst="line">
            <a:avLst/>
          </a:prstGeom>
          <a:noFill/>
          <a:ln w="25400">
            <a:solidFill>
              <a:srgbClr val="2C5673"/>
            </a:solidFill>
            <a:prstDash val="solid"/>
          </a:ln>
        </p:spPr>
      </p:sp>
      <p:sp>
        <p:nvSpPr>
          <p:cNvPr id="14" name="Shape 11"/>
          <p:cNvSpPr/>
          <p:nvPr/>
        </p:nvSpPr>
        <p:spPr>
          <a:xfrm>
            <a:off x="6995160" y="2697480"/>
            <a:ext cx="182880" cy="182880"/>
          </a:xfrm>
          <a:prstGeom prst="ellipse">
            <a:avLst/>
          </a:prstGeom>
          <a:solidFill>
            <a:srgbClr val="F2A541"/>
          </a:solidFill>
          <a:ln w="19050">
            <a:solidFill>
              <a:srgbClr val="0B1F33"/>
            </a:solidFill>
            <a:prstDash val="solid"/>
          </a:ln>
        </p:spPr>
      </p:sp>
      <p:sp>
        <p:nvSpPr>
          <p:cNvPr id="15" name="Text 12"/>
          <p:cNvSpPr txBox="1"/>
          <p:nvPr/>
        </p:nvSpPr>
        <p:spPr>
          <a:xfrm>
            <a:off x="7360920" y="2688336"/>
            <a:ext cx="128016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NDLS</a:t>
            </a:r>
            <a:endParaRPr lang="en-US" sz="1100" dirty="0"/>
          </a:p>
        </p:txBody>
      </p:sp>
      <p:sp>
        <p:nvSpPr>
          <p:cNvPr id="16" name="Shape 13"/>
          <p:cNvSpPr/>
          <p:nvPr/>
        </p:nvSpPr>
        <p:spPr>
          <a:xfrm>
            <a:off x="6995160" y="3154680"/>
            <a:ext cx="182880" cy="182880"/>
          </a:xfrm>
          <a:prstGeom prst="ellipse">
            <a:avLst/>
          </a:prstGeom>
          <a:solidFill>
            <a:srgbClr val="0FA3B1"/>
          </a:solidFill>
          <a:ln w="19050">
            <a:solidFill>
              <a:srgbClr val="0B1F33"/>
            </a:solidFill>
            <a:prstDash val="solid"/>
          </a:ln>
        </p:spPr>
      </p:sp>
      <p:sp>
        <p:nvSpPr>
          <p:cNvPr id="17" name="Text 14"/>
          <p:cNvSpPr txBox="1"/>
          <p:nvPr/>
        </p:nvSpPr>
        <p:spPr>
          <a:xfrm>
            <a:off x="7360920" y="3145536"/>
            <a:ext cx="128016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CNB</a:t>
            </a:r>
            <a:endParaRPr lang="en-US" sz="1100" dirty="0"/>
          </a:p>
        </p:txBody>
      </p:sp>
      <p:sp>
        <p:nvSpPr>
          <p:cNvPr id="18" name="Shape 15"/>
          <p:cNvSpPr/>
          <p:nvPr/>
        </p:nvSpPr>
        <p:spPr>
          <a:xfrm>
            <a:off x="6995160" y="3611880"/>
            <a:ext cx="182880" cy="182880"/>
          </a:xfrm>
          <a:prstGeom prst="ellipse">
            <a:avLst/>
          </a:prstGeom>
          <a:solidFill>
            <a:srgbClr val="0FA3B1"/>
          </a:solidFill>
          <a:ln w="19050">
            <a:solidFill>
              <a:srgbClr val="0B1F33"/>
            </a:solidFill>
            <a:prstDash val="solid"/>
          </a:ln>
        </p:spPr>
      </p:sp>
      <p:sp>
        <p:nvSpPr>
          <p:cNvPr id="19" name="Text 16"/>
          <p:cNvSpPr txBox="1"/>
          <p:nvPr/>
        </p:nvSpPr>
        <p:spPr>
          <a:xfrm>
            <a:off x="7360920" y="3602736"/>
            <a:ext cx="128016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PRYJ</a:t>
            </a:r>
            <a:endParaRPr lang="en-US" sz="1100" dirty="0"/>
          </a:p>
        </p:txBody>
      </p:sp>
      <p:sp>
        <p:nvSpPr>
          <p:cNvPr id="20" name="Shape 17"/>
          <p:cNvSpPr/>
          <p:nvPr/>
        </p:nvSpPr>
        <p:spPr>
          <a:xfrm>
            <a:off x="6995160" y="4069080"/>
            <a:ext cx="182880" cy="182880"/>
          </a:xfrm>
          <a:prstGeom prst="ellipse">
            <a:avLst/>
          </a:prstGeom>
          <a:solidFill>
            <a:srgbClr val="F2A541"/>
          </a:solidFill>
          <a:ln w="19050">
            <a:solidFill>
              <a:srgbClr val="0B1F33"/>
            </a:solidFill>
            <a:prstDash val="solid"/>
          </a:ln>
        </p:spPr>
      </p:sp>
      <p:sp>
        <p:nvSpPr>
          <p:cNvPr id="21" name="Text 18"/>
          <p:cNvSpPr txBox="1"/>
          <p:nvPr/>
        </p:nvSpPr>
        <p:spPr>
          <a:xfrm>
            <a:off x="7360920" y="4059936"/>
            <a:ext cx="128016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HWH</a:t>
            </a:r>
            <a:endParaRPr lang="en-US" sz="1100" dirty="0"/>
          </a:p>
        </p:txBody>
      </p:sp>
      <p:sp>
        <p:nvSpPr>
          <p:cNvPr id="22" name="Text 19"/>
          <p:cNvSpPr txBox="1"/>
          <p:nvPr/>
        </p:nvSpPr>
        <p:spPr>
          <a:xfrm>
            <a:off x="6903720" y="4526280"/>
            <a:ext cx="2011680" cy="182880"/>
          </a:xfrm>
          <a:prstGeom prst="rect">
            <a:avLst/>
          </a:prstGeom>
          <a:noFill/>
          <a:ln/>
        </p:spPr>
        <p:txBody>
          <a:bodyPr wrap="square" lIns="0" tIns="0" rIns="0" bIns="0" rtlCol="0" anchor="t"/>
          <a:lstStyle/>
          <a:p>
            <a:pPr indent="0" marL="0">
              <a:buNone/>
            </a:pPr>
            <a:r>
              <a:rPr lang="en-US" sz="900" dirty="0">
                <a:solidFill>
                  <a:srgbClr val="B9C7D6"/>
                </a:solidFill>
                <a:latin typeface="Calibri" pitchFamily="34" charset="0"/>
                <a:ea typeface="Calibri" pitchFamily="34" charset="-122"/>
                <a:cs typeface="Calibri" pitchFamily="34" charset="-120"/>
              </a:rPr>
              <a:t>New Delhi to Howrah  |  1,447 km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B1F33"/>
          </a:solidFill>
          <a:ln w="12700">
            <a:solidFill>
              <a:srgbClr val="0B1F33"/>
            </a:solidFill>
            <a:prstDash val="solid"/>
          </a:ln>
        </p:spPr>
      </p:sp>
      <p:sp>
        <p:nvSpPr>
          <p:cNvPr id="3" name="Shape 1"/>
          <p:cNvSpPr/>
          <p:nvPr/>
        </p:nvSpPr>
        <p:spPr>
          <a:xfrm>
            <a:off x="365760" y="173736"/>
            <a:ext cx="91440" cy="219456"/>
          </a:xfrm>
          <a:prstGeom prst="rect">
            <a:avLst/>
          </a:prstGeom>
          <a:solidFill>
            <a:srgbClr val="F2A541"/>
          </a:solidFill>
          <a:ln w="12700">
            <a:solidFill>
              <a:srgbClr val="F2A541"/>
            </a:solidFill>
            <a:prstDash val="solid"/>
          </a:ln>
        </p:spPr>
      </p:sp>
      <p:sp>
        <p:nvSpPr>
          <p:cNvPr id="4" name="Text 2"/>
          <p:cNvSpPr txBox="1"/>
          <p:nvPr/>
        </p:nvSpPr>
        <p:spPr>
          <a:xfrm>
            <a:off x="594360" y="82296"/>
            <a:ext cx="7863840" cy="402336"/>
          </a:xfrm>
          <a:prstGeom prst="rect">
            <a:avLst/>
          </a:prstGeom>
          <a:noFill/>
          <a:ln/>
        </p:spPr>
        <p:txBody>
          <a:bodyPr wrap="square" lIns="0" tIns="0" rIns="0" bIns="0" rtlCol="0" anchor="ctr"/>
          <a:lstStyle/>
          <a:p>
            <a:pPr indent="0" marL="0">
              <a:buNone/>
            </a:pPr>
            <a:r>
              <a:rPr lang="en-US" sz="1600" b="1" spc="100" kern="0" dirty="0">
                <a:solidFill>
                  <a:srgbClr val="FFFFFF"/>
                </a:solidFill>
                <a:latin typeface="Calibri" pitchFamily="34" charset="0"/>
                <a:ea typeface="Calibri" pitchFamily="34" charset="-122"/>
                <a:cs typeface="Calibri" pitchFamily="34" charset="-120"/>
              </a:rPr>
              <a:t>PROBLEM STATEMENT</a:t>
            </a:r>
            <a:endParaRPr lang="en-US" sz="1600" dirty="0"/>
          </a:p>
        </p:txBody>
      </p:sp>
      <p:sp>
        <p:nvSpPr>
          <p:cNvPr id="5" name="Text 3"/>
          <p:cNvSpPr txBox="1"/>
          <p:nvPr/>
        </p:nvSpPr>
        <p:spPr>
          <a:xfrm>
            <a:off x="365760" y="4846320"/>
            <a:ext cx="5486400" cy="201168"/>
          </a:xfrm>
          <a:prstGeom prst="rect">
            <a:avLst/>
          </a:prstGeom>
          <a:noFill/>
          <a:ln/>
        </p:spPr>
        <p:txBody>
          <a:bodyPr wrap="square" lIns="0" tIns="0" rIns="0" bIns="0" rtlCol="0" anchor="t"/>
          <a:lstStyle/>
          <a:p>
            <a:pPr indent="0" marL="0">
              <a:buNone/>
            </a:pPr>
            <a:r>
              <a:rPr lang="en-US" sz="850" dirty="0">
                <a:solidFill>
                  <a:srgbClr val="5B6B7B"/>
                </a:solidFill>
                <a:latin typeface="Calibri" pitchFamily="34" charset="0"/>
                <a:ea typeface="Calibri" pitchFamily="34" charset="-122"/>
                <a:cs typeface="Calibri" pitchFamily="34" charset="-120"/>
              </a:rPr>
              <a:t>Dynamic ETA Forecasting Engine  |  Alva’s Institute of Engineering &amp; Technology</a:t>
            </a:r>
            <a:endParaRPr lang="en-US" sz="850" dirty="0"/>
          </a:p>
        </p:txBody>
      </p:sp>
      <p:sp>
        <p:nvSpPr>
          <p:cNvPr id="6" name="Text 4"/>
          <p:cNvSpPr txBox="1"/>
          <p:nvPr/>
        </p:nvSpPr>
        <p:spPr>
          <a:xfrm>
            <a:off x="7863840" y="4846320"/>
            <a:ext cx="914400" cy="201168"/>
          </a:xfrm>
          <a:prstGeom prst="rect">
            <a:avLst/>
          </a:prstGeom>
          <a:noFill/>
          <a:ln/>
        </p:spPr>
        <p:txBody>
          <a:bodyPr wrap="square" lIns="0" tIns="0" rIns="0" bIns="0" rtlCol="0" anchor="t"/>
          <a:lstStyle/>
          <a:p>
            <a:pPr algn="r" indent="0" marL="0">
              <a:buNone/>
            </a:pPr>
            <a:r>
              <a:rPr lang="en-US" sz="850" dirty="0">
                <a:solidFill>
                  <a:srgbClr val="5B6B7B"/>
                </a:solidFill>
                <a:latin typeface="Calibri" pitchFamily="34" charset="0"/>
                <a:ea typeface="Calibri" pitchFamily="34" charset="-122"/>
                <a:cs typeface="Calibri" pitchFamily="34" charset="-120"/>
              </a:rPr>
              <a:t>2 / 9</a:t>
            </a:r>
            <a:endParaRPr lang="en-US" sz="850" dirty="0"/>
          </a:p>
        </p:txBody>
      </p:sp>
      <p:sp>
        <p:nvSpPr>
          <p:cNvPr id="8" name="Text 5"/>
          <p:cNvSpPr txBox="1"/>
          <p:nvPr/>
        </p:nvSpPr>
        <p:spPr>
          <a:xfrm>
            <a:off x="365760" y="685800"/>
            <a:ext cx="5120640" cy="256032"/>
          </a:xfrm>
          <a:prstGeom prst="rect">
            <a:avLst/>
          </a:prstGeom>
          <a:noFill/>
          <a:ln/>
        </p:spPr>
        <p:txBody>
          <a:bodyPr wrap="square" lIns="0" tIns="0" rIns="0" bIns="0" rtlCol="0" anchor="t"/>
          <a:lstStyle/>
          <a:p>
            <a:pPr indent="0" marL="0">
              <a:buNone/>
            </a:pPr>
            <a:r>
              <a:rPr lang="en-US" sz="1250" b="1" dirty="0">
                <a:solidFill>
                  <a:srgbClr val="1B2B3A"/>
                </a:solidFill>
                <a:latin typeface="Calibri" pitchFamily="34" charset="0"/>
                <a:ea typeface="Calibri" pitchFamily="34" charset="-122"/>
                <a:cs typeface="Calibri" pitchFamily="34" charset="-120"/>
              </a:rPr>
              <a:t>Train ETAs today don’t reflect what is happening on the track</a:t>
            </a:r>
            <a:endParaRPr lang="en-US" sz="1250" dirty="0"/>
          </a:p>
        </p:txBody>
      </p:sp>
      <p:sp>
        <p:nvSpPr>
          <p:cNvPr id="9" name="Text 6"/>
          <p:cNvSpPr txBox="1"/>
          <p:nvPr/>
        </p:nvSpPr>
        <p:spPr>
          <a:xfrm>
            <a:off x="365760" y="1024128"/>
            <a:ext cx="5029200" cy="201168"/>
          </a:xfrm>
          <a:prstGeom prst="rect">
            <a:avLst/>
          </a:prstGeom>
          <a:noFill/>
          <a:ln/>
        </p:spPr>
        <p:txBody>
          <a:bodyPr wrap="square" lIns="0" tIns="0" rIns="0" bIns="0" rtlCol="0" anchor="t"/>
          <a:lstStyle/>
          <a:p>
            <a:pPr indent="0" marL="0">
              <a:buNone/>
            </a:pPr>
            <a:r>
              <a:rPr lang="en-US" sz="950" b="1" spc="150" kern="0" dirty="0">
                <a:solidFill>
                  <a:srgbClr val="0FA3B1"/>
                </a:solidFill>
                <a:latin typeface="Calibri" pitchFamily="34" charset="0"/>
                <a:ea typeface="Calibri" pitchFamily="34" charset="-122"/>
                <a:cs typeface="Calibri" pitchFamily="34" charset="-120"/>
              </a:rPr>
              <a:t>WHO DEPENDS ON ONE ARRIVAL TIME</a:t>
            </a:r>
            <a:endParaRPr lang="en-US" sz="950" dirty="0"/>
          </a:p>
        </p:txBody>
      </p:sp>
      <p:sp>
        <p:nvSpPr>
          <p:cNvPr id="10" name="Shape 7"/>
          <p:cNvSpPr/>
          <p:nvPr/>
        </p:nvSpPr>
        <p:spPr>
          <a:xfrm>
            <a:off x="365760" y="1261872"/>
            <a:ext cx="2514600" cy="585216"/>
          </a:xfrm>
          <a:prstGeom prst="roundRect">
            <a:avLst>
              <a:gd name="adj" fmla="val 7813"/>
            </a:avLst>
          </a:prstGeom>
          <a:solidFill>
            <a:srgbClr val="F5F7FA"/>
          </a:solidFill>
          <a:ln w="9525">
            <a:solidFill>
              <a:srgbClr val="D3DCE5"/>
            </a:solidFill>
            <a:prstDash val="solid"/>
          </a:ln>
        </p:spPr>
      </p:sp>
      <p:sp>
        <p:nvSpPr>
          <p:cNvPr id="11" name="Text 8"/>
          <p:cNvSpPr txBox="1"/>
          <p:nvPr/>
        </p:nvSpPr>
        <p:spPr>
          <a:xfrm>
            <a:off x="475488" y="1325880"/>
            <a:ext cx="2304288" cy="475488"/>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Passengers</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When to leave and if connections hold</a:t>
            </a:r>
            <a:endParaRPr lang="en-US" sz="1050" dirty="0"/>
          </a:p>
        </p:txBody>
      </p:sp>
      <p:sp>
        <p:nvSpPr>
          <p:cNvPr id="12" name="Shape 9"/>
          <p:cNvSpPr/>
          <p:nvPr/>
        </p:nvSpPr>
        <p:spPr>
          <a:xfrm>
            <a:off x="2971800" y="1261872"/>
            <a:ext cx="2514600" cy="585216"/>
          </a:xfrm>
          <a:prstGeom prst="roundRect">
            <a:avLst>
              <a:gd name="adj" fmla="val 7813"/>
            </a:avLst>
          </a:prstGeom>
          <a:solidFill>
            <a:srgbClr val="F5F7FA"/>
          </a:solidFill>
          <a:ln w="9525">
            <a:solidFill>
              <a:srgbClr val="D3DCE5"/>
            </a:solidFill>
            <a:prstDash val="solid"/>
          </a:ln>
        </p:spPr>
      </p:sp>
      <p:sp>
        <p:nvSpPr>
          <p:cNvPr id="13" name="Text 10"/>
          <p:cNvSpPr txBox="1"/>
          <p:nvPr/>
        </p:nvSpPr>
        <p:spPr>
          <a:xfrm>
            <a:off x="3081528" y="1325880"/>
            <a:ext cx="2304288" cy="475488"/>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Station operations</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Platform planning and the arrivals board order</a:t>
            </a:r>
            <a:endParaRPr lang="en-US" sz="1050" dirty="0"/>
          </a:p>
        </p:txBody>
      </p:sp>
      <p:sp>
        <p:nvSpPr>
          <p:cNvPr id="14" name="Shape 11"/>
          <p:cNvSpPr/>
          <p:nvPr/>
        </p:nvSpPr>
        <p:spPr>
          <a:xfrm>
            <a:off x="365760" y="1920240"/>
            <a:ext cx="2514600" cy="585216"/>
          </a:xfrm>
          <a:prstGeom prst="roundRect">
            <a:avLst>
              <a:gd name="adj" fmla="val 7813"/>
            </a:avLst>
          </a:prstGeom>
          <a:solidFill>
            <a:srgbClr val="F5F7FA"/>
          </a:solidFill>
          <a:ln w="9525">
            <a:solidFill>
              <a:srgbClr val="D3DCE5"/>
            </a:solidFill>
            <a:prstDash val="solid"/>
          </a:ln>
        </p:spPr>
      </p:sp>
      <p:sp>
        <p:nvSpPr>
          <p:cNvPr id="15" name="Text 12"/>
          <p:cNvSpPr txBox="1"/>
          <p:nvPr/>
        </p:nvSpPr>
        <p:spPr>
          <a:xfrm>
            <a:off x="475488" y="1984248"/>
            <a:ext cx="2304288" cy="475488"/>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Control room</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Where delays build and ripple downstream</a:t>
            </a:r>
            <a:endParaRPr lang="en-US" sz="1050" dirty="0"/>
          </a:p>
        </p:txBody>
      </p:sp>
      <p:sp>
        <p:nvSpPr>
          <p:cNvPr id="16" name="Shape 13"/>
          <p:cNvSpPr/>
          <p:nvPr/>
        </p:nvSpPr>
        <p:spPr>
          <a:xfrm>
            <a:off x="2971800" y="1920240"/>
            <a:ext cx="2514600" cy="585216"/>
          </a:xfrm>
          <a:prstGeom prst="roundRect">
            <a:avLst>
              <a:gd name="adj" fmla="val 7813"/>
            </a:avLst>
          </a:prstGeom>
          <a:solidFill>
            <a:srgbClr val="F5F7FA"/>
          </a:solidFill>
          <a:ln w="9525">
            <a:solidFill>
              <a:srgbClr val="D3DCE5"/>
            </a:solidFill>
            <a:prstDash val="solid"/>
          </a:ln>
        </p:spPr>
      </p:sp>
      <p:sp>
        <p:nvSpPr>
          <p:cNvPr id="17" name="Text 14"/>
          <p:cNvSpPr txBox="1"/>
          <p:nvPr/>
        </p:nvSpPr>
        <p:spPr>
          <a:xfrm>
            <a:off x="3081528" y="1984248"/>
            <a:ext cx="2304288" cy="475488"/>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Crew and logistics</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Relief crews, turnaround slots, taxis and buses</a:t>
            </a:r>
            <a:endParaRPr lang="en-US" sz="1050" dirty="0"/>
          </a:p>
        </p:txBody>
      </p:sp>
      <p:sp>
        <p:nvSpPr>
          <p:cNvPr id="18" name="Text 15"/>
          <p:cNvSpPr txBox="1"/>
          <p:nvPr/>
        </p:nvSpPr>
        <p:spPr>
          <a:xfrm>
            <a:off x="365760" y="2670048"/>
            <a:ext cx="5029200" cy="201168"/>
          </a:xfrm>
          <a:prstGeom prst="rect">
            <a:avLst/>
          </a:prstGeom>
          <a:noFill/>
          <a:ln/>
        </p:spPr>
        <p:txBody>
          <a:bodyPr wrap="square" lIns="0" tIns="0" rIns="0" bIns="0" rtlCol="0" anchor="t"/>
          <a:lstStyle/>
          <a:p>
            <a:pPr indent="0" marL="0">
              <a:buNone/>
            </a:pPr>
            <a:r>
              <a:rPr lang="en-US" sz="950" b="1" spc="150" kern="0" dirty="0">
                <a:solidFill>
                  <a:srgbClr val="0FA3B1"/>
                </a:solidFill>
                <a:latin typeface="Calibri" pitchFamily="34" charset="0"/>
                <a:ea typeface="Calibri" pitchFamily="34" charset="-122"/>
                <a:cs typeface="Calibri" pitchFamily="34" charset="-120"/>
              </a:rPr>
              <a:t>WHAT TODAY’S ETA IGNORES</a:t>
            </a:r>
            <a:endParaRPr lang="en-US" sz="950" dirty="0"/>
          </a:p>
        </p:txBody>
      </p:sp>
      <p:sp>
        <p:nvSpPr>
          <p:cNvPr id="19" name="Text 16"/>
          <p:cNvSpPr txBox="1"/>
          <p:nvPr/>
        </p:nvSpPr>
        <p:spPr>
          <a:xfrm>
            <a:off x="365760" y="2898648"/>
            <a:ext cx="5120640" cy="1143000"/>
          </a:xfrm>
          <a:prstGeom prst="rect">
            <a:avLst/>
          </a:prstGeom>
          <a:noFill/>
          <a:ln/>
        </p:spPr>
        <p:txBody>
          <a:bodyPr wrap="square" lIns="0" tIns="0" rIns="0" bIns="0" rtlCol="0" anchor="t"/>
          <a:lstStyle/>
          <a:p>
            <a:pPr marL="342900" indent="-342900">
              <a:spcAft>
                <a:spcPts val="500"/>
              </a:spcAft>
              <a:buSzPct val="100000"/>
              <a:buChar char="•"/>
            </a:pPr>
            <a:r>
              <a:rPr lang="en-US" sz="1000" b="1" dirty="0">
                <a:solidFill>
                  <a:srgbClr val="1B2B3A"/>
                </a:solidFill>
                <a:latin typeface="Calibri" pitchFamily="34" charset="0"/>
                <a:ea typeface="Calibri" pitchFamily="34" charset="-122"/>
                <a:cs typeface="Calibri" pitchFamily="34" charset="-120"/>
              </a:rPr>
              <a:t>Congestion: </a:t>
            </a:r>
            <a:pPr indent="0" marL="0">
              <a:spcAft>
                <a:spcPts val="500"/>
              </a:spcAft>
              <a:buNone/>
            </a:pPr>
            <a:r>
              <a:rPr lang="en-US" sz="1000" dirty="0">
                <a:solidFill>
                  <a:srgbClr val="5B6B7B"/>
                </a:solidFill>
                <a:latin typeface="Calibri" pitchFamily="34" charset="0"/>
                <a:ea typeface="Calibri" pitchFamily="34" charset="-122"/>
                <a:cs typeface="Calibri" pitchFamily="34" charset="-120"/>
              </a:rPr>
              <a:t>traffic ahead cuts speed to 35–65% of normal</a:t>
            </a:r>
            <a:endParaRPr lang="en-US" sz="1000" dirty="0"/>
          </a:p>
          <a:p>
            <a:pPr marL="342900" indent="-342900">
              <a:spcAft>
                <a:spcPts val="500"/>
              </a:spcAft>
              <a:buSzPct val="100000"/>
              <a:buChar char="•"/>
            </a:pPr>
            <a:r>
              <a:rPr lang="en-US" sz="1000" b="1" dirty="0">
                <a:solidFill>
                  <a:srgbClr val="1B2B3A"/>
                </a:solidFill>
                <a:latin typeface="Calibri" pitchFamily="34" charset="0"/>
                <a:ea typeface="Calibri" pitchFamily="34" charset="-122"/>
                <a:cs typeface="Calibri" pitchFamily="34" charset="-120"/>
              </a:rPr>
              <a:t>Unplanned halts: </a:t>
            </a:r>
            <a:pPr indent="0" marL="0">
              <a:spcAft>
                <a:spcPts val="500"/>
              </a:spcAft>
              <a:buNone/>
            </a:pPr>
            <a:r>
              <a:rPr lang="en-US" sz="1000" dirty="0">
                <a:solidFill>
                  <a:srgbClr val="5B6B7B"/>
                </a:solidFill>
                <a:latin typeface="Calibri" pitchFamily="34" charset="0"/>
                <a:ea typeface="Calibri" pitchFamily="34" charset="-122"/>
                <a:cs typeface="Calibri" pitchFamily="34" charset="-120"/>
              </a:rPr>
              <a:t>signal stops of 6–22 min, technical stops of 5–18 min</a:t>
            </a:r>
            <a:endParaRPr lang="en-US" sz="1000" dirty="0"/>
          </a:p>
          <a:p>
            <a:pPr marL="342900" indent="-342900">
              <a:spcAft>
                <a:spcPts val="500"/>
              </a:spcAft>
              <a:buSzPct val="100000"/>
              <a:buChar char="•"/>
            </a:pPr>
            <a:r>
              <a:rPr lang="en-US" sz="1000" b="1" dirty="0">
                <a:solidFill>
                  <a:srgbClr val="1B2B3A"/>
                </a:solidFill>
                <a:latin typeface="Calibri" pitchFamily="34" charset="0"/>
                <a:ea typeface="Calibri" pitchFamily="34" charset="-122"/>
                <a:cs typeface="Calibri" pitchFamily="34" charset="-120"/>
              </a:rPr>
              <a:t>Speed limits: </a:t>
            </a:r>
            <a:pPr indent="0" marL="0">
              <a:spcAft>
                <a:spcPts val="500"/>
              </a:spcAft>
              <a:buNone/>
            </a:pPr>
            <a:r>
              <a:rPr lang="en-US" sz="1000" dirty="0">
                <a:solidFill>
                  <a:srgbClr val="5B6B7B"/>
                </a:solidFill>
                <a:latin typeface="Calibri" pitchFamily="34" charset="0"/>
                <a:ea typeface="Calibri" pitchFamily="34" charset="-122"/>
                <a:cs typeface="Calibri" pitchFamily="34" charset="-120"/>
              </a:rPr>
              <a:t>track work and caution orders cap trains at 30–50 km/h</a:t>
            </a:r>
            <a:endParaRPr lang="en-US" sz="1000" dirty="0"/>
          </a:p>
          <a:p>
            <a:pPr marL="342900" indent="-342900">
              <a:spcAft>
                <a:spcPts val="500"/>
              </a:spcAft>
              <a:buSzPct val="100000"/>
              <a:buChar char="•"/>
            </a:pPr>
            <a:r>
              <a:rPr lang="en-US" sz="1000" b="1" dirty="0">
                <a:solidFill>
                  <a:srgbClr val="1B2B3A"/>
                </a:solidFill>
                <a:latin typeface="Calibri" pitchFamily="34" charset="0"/>
                <a:ea typeface="Calibri" pitchFamily="34" charset="-122"/>
                <a:cs typeface="Calibri" pitchFamily="34" charset="-120"/>
              </a:rPr>
              <a:t>Weather: </a:t>
            </a:r>
            <a:pPr indent="0" marL="0">
              <a:spcAft>
                <a:spcPts val="500"/>
              </a:spcAft>
              <a:buNone/>
            </a:pPr>
            <a:r>
              <a:rPr lang="en-US" sz="1000" dirty="0">
                <a:solidFill>
                  <a:srgbClr val="5B6B7B"/>
                </a:solidFill>
                <a:latin typeface="Calibri" pitchFamily="34" charset="0"/>
                <a:ea typeface="Calibri" pitchFamily="34" charset="-122"/>
                <a:cs typeface="Calibri" pitchFamily="34" charset="-120"/>
              </a:rPr>
              <a:t>fog or heavy rain slows trains to a 50 km/h cap</a:t>
            </a:r>
            <a:endParaRPr lang="en-US" sz="1000" dirty="0"/>
          </a:p>
        </p:txBody>
      </p:sp>
      <p:sp>
        <p:nvSpPr>
          <p:cNvPr id="20" name="Shape 17"/>
          <p:cNvSpPr/>
          <p:nvPr/>
        </p:nvSpPr>
        <p:spPr>
          <a:xfrm>
            <a:off x="365760" y="4114800"/>
            <a:ext cx="5120640" cy="621792"/>
          </a:xfrm>
          <a:prstGeom prst="roundRect">
            <a:avLst>
              <a:gd name="adj" fmla="val 7353"/>
            </a:avLst>
          </a:prstGeom>
          <a:solidFill>
            <a:srgbClr val="FFF6E8"/>
          </a:solidFill>
          <a:ln w="9525">
            <a:solidFill>
              <a:srgbClr val="F2A541"/>
            </a:solidFill>
            <a:prstDash val="solid"/>
          </a:ln>
        </p:spPr>
      </p:sp>
      <p:sp>
        <p:nvSpPr>
          <p:cNvPr id="21" name="Text 18"/>
          <p:cNvSpPr txBox="1"/>
          <p:nvPr/>
        </p:nvSpPr>
        <p:spPr>
          <a:xfrm>
            <a:off x="475488" y="4160520"/>
            <a:ext cx="4901184" cy="530352"/>
          </a:xfrm>
          <a:prstGeom prst="rect">
            <a:avLst/>
          </a:prstGeom>
          <a:noFill/>
          <a:ln/>
        </p:spPr>
        <p:txBody>
          <a:bodyPr wrap="square" lIns="0" tIns="0" rIns="0" bIns="0" rtlCol="0" anchor="ctr"/>
          <a:lstStyle/>
          <a:p>
            <a:pPr indent="0" marL="0">
              <a:buNone/>
            </a:pPr>
            <a:r>
              <a:rPr lang="en-US" sz="950" b="1" dirty="0">
                <a:solidFill>
                  <a:srgbClr val="1B2B3A"/>
                </a:solidFill>
                <a:latin typeface="Calibri" pitchFamily="34" charset="0"/>
                <a:ea typeface="Calibri" pitchFamily="34" charset="-122"/>
                <a:cs typeface="Calibri" pitchFamily="34" charset="-120"/>
              </a:rPr>
              <a:t>The catch: </a:t>
            </a:r>
            <a:pPr indent="0" marL="0">
              <a:buNone/>
            </a:pPr>
            <a:r>
              <a:rPr lang="en-US" sz="950" dirty="0">
                <a:solidFill>
                  <a:srgbClr val="1B2B3A"/>
                </a:solidFill>
                <a:latin typeface="Calibri" pitchFamily="34" charset="0"/>
                <a:ea typeface="Calibri" pitchFamily="34" charset="-122"/>
                <a:cs typeface="Calibri" pitchFamily="34" charset="-120"/>
              </a:rPr>
              <a:t>it assumes today’s delay just carries forward and recovery is a fixed margin (2.5 min per 100 km). In our tests this baseline is off by </a:t>
            </a:r>
            <a:pPr indent="0" marL="0">
              <a:buNone/>
            </a:pPr>
            <a:r>
              <a:rPr lang="en-US" sz="950" b="1" dirty="0">
                <a:solidFill>
                  <a:srgbClr val="1B2B3A"/>
                </a:solidFill>
                <a:latin typeface="Calibri" pitchFamily="34" charset="0"/>
                <a:ea typeface="Calibri" pitchFamily="34" charset="-122"/>
                <a:cs typeface="Calibri" pitchFamily="34" charset="-120"/>
              </a:rPr>
              <a:t>74.1 min on average (MAE).</a:t>
            </a:r>
            <a:endParaRPr lang="en-US" sz="950" dirty="0"/>
          </a:p>
        </p:txBody>
      </p:sp>
      <p:sp>
        <p:nvSpPr>
          <p:cNvPr id="22" name="Text 19"/>
          <p:cNvSpPr txBox="1"/>
          <p:nvPr/>
        </p:nvSpPr>
        <p:spPr>
          <a:xfrm>
            <a:off x="5806440" y="713232"/>
            <a:ext cx="2926080" cy="201168"/>
          </a:xfrm>
          <a:prstGeom prst="rect">
            <a:avLst/>
          </a:prstGeom>
          <a:noFill/>
          <a:ln/>
        </p:spPr>
        <p:txBody>
          <a:bodyPr wrap="square" lIns="0" tIns="0" rIns="0" bIns="0" rtlCol="0" anchor="t"/>
          <a:lstStyle/>
          <a:p>
            <a:pPr indent="0" marL="0">
              <a:buNone/>
            </a:pPr>
            <a:r>
              <a:rPr lang="en-US" sz="950" b="1" spc="150" kern="0" dirty="0">
                <a:solidFill>
                  <a:srgbClr val="0FA3B1"/>
                </a:solidFill>
                <a:latin typeface="Calibri" pitchFamily="34" charset="0"/>
                <a:ea typeface="Calibri" pitchFamily="34" charset="-122"/>
                <a:cs typeface="Calibri" pitchFamily="34" charset="-120"/>
              </a:rPr>
              <a:t>TODAY’S ETA FORMULA</a:t>
            </a:r>
            <a:endParaRPr lang="en-US" sz="950" dirty="0"/>
          </a:p>
        </p:txBody>
      </p:sp>
      <p:sp>
        <p:nvSpPr>
          <p:cNvPr id="23" name="Shape 20"/>
          <p:cNvSpPr/>
          <p:nvPr/>
        </p:nvSpPr>
        <p:spPr>
          <a:xfrm>
            <a:off x="5806440" y="987552"/>
            <a:ext cx="2971800" cy="384048"/>
          </a:xfrm>
          <a:prstGeom prst="roundRect">
            <a:avLst>
              <a:gd name="adj" fmla="val 9524"/>
            </a:avLst>
          </a:prstGeom>
          <a:solidFill>
            <a:srgbClr val="0B1F33"/>
          </a:solidFill>
          <a:ln w="12700">
            <a:solidFill>
              <a:srgbClr val="0B1F33"/>
            </a:solidFill>
            <a:prstDash val="solid"/>
          </a:ln>
        </p:spPr>
      </p:sp>
      <p:sp>
        <p:nvSpPr>
          <p:cNvPr id="24" name="Text 21"/>
          <p:cNvSpPr txBox="1"/>
          <p:nvPr/>
        </p:nvSpPr>
        <p:spPr>
          <a:xfrm>
            <a:off x="5806440" y="987552"/>
            <a:ext cx="29718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Scheduled arrival</a:t>
            </a:r>
            <a:endParaRPr lang="en-US" sz="1150" dirty="0"/>
          </a:p>
        </p:txBody>
      </p:sp>
      <p:sp>
        <p:nvSpPr>
          <p:cNvPr id="25" name="Shape 22"/>
          <p:cNvSpPr/>
          <p:nvPr/>
        </p:nvSpPr>
        <p:spPr>
          <a:xfrm>
            <a:off x="7205472" y="1389888"/>
            <a:ext cx="182880" cy="146304"/>
          </a:xfrm>
          <a:prstGeom prst="downArrow">
            <a:avLst/>
          </a:prstGeom>
          <a:solidFill>
            <a:srgbClr val="5B6B7B"/>
          </a:solidFill>
          <a:ln w="12700">
            <a:solidFill>
              <a:srgbClr val="5B6B7B"/>
            </a:solidFill>
            <a:prstDash val="solid"/>
          </a:ln>
        </p:spPr>
      </p:sp>
      <p:sp>
        <p:nvSpPr>
          <p:cNvPr id="26" name="Shape 23"/>
          <p:cNvSpPr/>
          <p:nvPr/>
        </p:nvSpPr>
        <p:spPr>
          <a:xfrm>
            <a:off x="5806440" y="1554480"/>
            <a:ext cx="2971800" cy="384048"/>
          </a:xfrm>
          <a:prstGeom prst="roundRect">
            <a:avLst>
              <a:gd name="adj" fmla="val 9524"/>
            </a:avLst>
          </a:prstGeom>
          <a:solidFill>
            <a:srgbClr val="0FA3B1"/>
          </a:solidFill>
          <a:ln w="12700">
            <a:solidFill>
              <a:srgbClr val="0FA3B1"/>
            </a:solidFill>
            <a:prstDash val="solid"/>
          </a:ln>
        </p:spPr>
      </p:sp>
      <p:sp>
        <p:nvSpPr>
          <p:cNvPr id="27" name="Text 24"/>
          <p:cNvSpPr txBox="1"/>
          <p:nvPr/>
        </p:nvSpPr>
        <p:spPr>
          <a:xfrm>
            <a:off x="5806440" y="1554480"/>
            <a:ext cx="29718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 current delay</a:t>
            </a:r>
            <a:endParaRPr lang="en-US" sz="1150" dirty="0"/>
          </a:p>
        </p:txBody>
      </p:sp>
      <p:sp>
        <p:nvSpPr>
          <p:cNvPr id="28" name="Shape 25"/>
          <p:cNvSpPr/>
          <p:nvPr/>
        </p:nvSpPr>
        <p:spPr>
          <a:xfrm>
            <a:off x="7205472" y="1956816"/>
            <a:ext cx="182880" cy="146304"/>
          </a:xfrm>
          <a:prstGeom prst="downArrow">
            <a:avLst/>
          </a:prstGeom>
          <a:solidFill>
            <a:srgbClr val="5B6B7B"/>
          </a:solidFill>
          <a:ln w="12700">
            <a:solidFill>
              <a:srgbClr val="5B6B7B"/>
            </a:solidFill>
            <a:prstDash val="solid"/>
          </a:ln>
        </p:spPr>
      </p:sp>
      <p:sp>
        <p:nvSpPr>
          <p:cNvPr id="29" name="Shape 26"/>
          <p:cNvSpPr/>
          <p:nvPr/>
        </p:nvSpPr>
        <p:spPr>
          <a:xfrm>
            <a:off x="5806440" y="2121408"/>
            <a:ext cx="2971800" cy="384048"/>
          </a:xfrm>
          <a:prstGeom prst="roundRect">
            <a:avLst>
              <a:gd name="adj" fmla="val 9524"/>
            </a:avLst>
          </a:prstGeom>
          <a:solidFill>
            <a:srgbClr val="F2A541"/>
          </a:solidFill>
          <a:ln w="12700">
            <a:solidFill>
              <a:srgbClr val="F2A541"/>
            </a:solidFill>
            <a:prstDash val="solid"/>
          </a:ln>
        </p:spPr>
      </p:sp>
      <p:sp>
        <p:nvSpPr>
          <p:cNvPr id="30" name="Text 27"/>
          <p:cNvSpPr txBox="1"/>
          <p:nvPr/>
        </p:nvSpPr>
        <p:spPr>
          <a:xfrm>
            <a:off x="5806440" y="2121408"/>
            <a:ext cx="2971800" cy="384048"/>
          </a:xfrm>
          <a:prstGeom prst="rect">
            <a:avLst/>
          </a:prstGeom>
          <a:noFill/>
          <a:ln/>
        </p:spPr>
        <p:txBody>
          <a:bodyPr wrap="square" lIns="0" tIns="0" rIns="0" bIns="0" rtlCol="0" anchor="ctr"/>
          <a:lstStyle/>
          <a:p>
            <a:pPr algn="ctr" indent="0" marL="0">
              <a:buNone/>
            </a:pPr>
            <a:r>
              <a:rPr lang="en-US" sz="1150" b="1" dirty="0">
                <a:solidFill>
                  <a:srgbClr val="1B2B3A"/>
                </a:solidFill>
                <a:latin typeface="Calibri" pitchFamily="34" charset="0"/>
                <a:ea typeface="Calibri" pitchFamily="34" charset="-122"/>
                <a:cs typeface="Calibri" pitchFamily="34" charset="-120"/>
              </a:rPr>
              <a:t>− fixed recovery buffer</a:t>
            </a:r>
            <a:endParaRPr lang="en-US" sz="1150" dirty="0"/>
          </a:p>
        </p:txBody>
      </p:sp>
      <p:sp>
        <p:nvSpPr>
          <p:cNvPr id="31" name="Shape 28"/>
          <p:cNvSpPr/>
          <p:nvPr/>
        </p:nvSpPr>
        <p:spPr>
          <a:xfrm>
            <a:off x="7205472" y="2523744"/>
            <a:ext cx="182880" cy="146304"/>
          </a:xfrm>
          <a:prstGeom prst="downArrow">
            <a:avLst/>
          </a:prstGeom>
          <a:solidFill>
            <a:srgbClr val="5B6B7B"/>
          </a:solidFill>
          <a:ln w="12700">
            <a:solidFill>
              <a:srgbClr val="5B6B7B"/>
            </a:solidFill>
            <a:prstDash val="solid"/>
          </a:ln>
        </p:spPr>
      </p:sp>
      <p:sp>
        <p:nvSpPr>
          <p:cNvPr id="32" name="Shape 29"/>
          <p:cNvSpPr/>
          <p:nvPr/>
        </p:nvSpPr>
        <p:spPr>
          <a:xfrm>
            <a:off x="5806440" y="2688336"/>
            <a:ext cx="2971800" cy="384048"/>
          </a:xfrm>
          <a:prstGeom prst="roundRect">
            <a:avLst>
              <a:gd name="adj" fmla="val 9524"/>
            </a:avLst>
          </a:prstGeom>
          <a:solidFill>
            <a:srgbClr val="13324F"/>
          </a:solidFill>
          <a:ln w="12700">
            <a:solidFill>
              <a:srgbClr val="13324F"/>
            </a:solidFill>
            <a:prstDash val="solid"/>
          </a:ln>
        </p:spPr>
      </p:sp>
      <p:sp>
        <p:nvSpPr>
          <p:cNvPr id="33" name="Text 30"/>
          <p:cNvSpPr txBox="1"/>
          <p:nvPr/>
        </p:nvSpPr>
        <p:spPr>
          <a:xfrm>
            <a:off x="5806440" y="2688336"/>
            <a:ext cx="297180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Today’s ETA</a:t>
            </a:r>
            <a:endParaRPr lang="en-US" sz="1150" dirty="0"/>
          </a:p>
        </p:txBody>
      </p:sp>
      <p:sp>
        <p:nvSpPr>
          <p:cNvPr id="34" name="Shape 31"/>
          <p:cNvSpPr/>
          <p:nvPr/>
        </p:nvSpPr>
        <p:spPr>
          <a:xfrm>
            <a:off x="5806440" y="3310128"/>
            <a:ext cx="2971800" cy="1426464"/>
          </a:xfrm>
          <a:prstGeom prst="roundRect">
            <a:avLst>
              <a:gd name="adj" fmla="val 3205"/>
            </a:avLst>
          </a:prstGeom>
          <a:solidFill>
            <a:srgbClr val="F5F7FA"/>
          </a:solidFill>
          <a:ln w="9525">
            <a:solidFill>
              <a:srgbClr val="D3DCE5"/>
            </a:solidFill>
            <a:prstDash val="solid"/>
          </a:ln>
        </p:spPr>
      </p:sp>
      <p:sp>
        <p:nvSpPr>
          <p:cNvPr id="35" name="Text 32"/>
          <p:cNvSpPr txBox="1"/>
          <p:nvPr/>
        </p:nvSpPr>
        <p:spPr>
          <a:xfrm>
            <a:off x="5943600" y="3401568"/>
            <a:ext cx="2697480" cy="1280160"/>
          </a:xfrm>
          <a:prstGeom prst="rect">
            <a:avLst/>
          </a:prstGeom>
          <a:noFill/>
          <a:ln/>
        </p:spPr>
        <p:txBody>
          <a:bodyPr wrap="square" lIns="0" tIns="0" rIns="0" bIns="0" rtlCol="0" anchor="t"/>
          <a:lstStyle/>
          <a:p>
            <a:pPr indent="0" marL="0">
              <a:spcAft>
                <a:spcPts val="500"/>
              </a:spcAft>
              <a:buNone/>
            </a:pPr>
            <a:r>
              <a:rPr lang="en-US" sz="1100" b="1" dirty="0">
                <a:solidFill>
                  <a:srgbClr val="1B2B3A"/>
                </a:solidFill>
                <a:latin typeface="Calibri" pitchFamily="34" charset="0"/>
                <a:ea typeface="Calibri" pitchFamily="34" charset="-122"/>
                <a:cs typeface="Calibri" pitchFamily="34" charset="-120"/>
              </a:rPr>
              <a:t>One arrival time drives many decisions</a:t>
            </a:r>
            <a:endParaRPr lang="en-US" sz="1100" dirty="0"/>
          </a:p>
          <a:p>
            <a:pPr indent="0" marL="0">
              <a:spcAft>
                <a:spcPts val="500"/>
              </a:spcAft>
              <a:buNone/>
            </a:pPr>
            <a:r>
              <a:rPr lang="en-US" sz="1000" dirty="0">
                <a:solidFill>
                  <a:srgbClr val="5B6B7B"/>
                </a:solidFill>
                <a:latin typeface="Calibri" pitchFamily="34" charset="0"/>
                <a:ea typeface="Calibri" pitchFamily="34" charset="-122"/>
                <a:cs typeface="Calibri" pitchFamily="34" charset="-120"/>
              </a:rPr>
              <a:t>Platform allocation, crew rosters, cleaning slots and feeder transport are all planned around when a train arrives. A wrong ETA erodes passenger trust.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B1F33"/>
          </a:solidFill>
          <a:ln w="12700">
            <a:solidFill>
              <a:srgbClr val="0B1F33"/>
            </a:solidFill>
            <a:prstDash val="solid"/>
          </a:ln>
        </p:spPr>
      </p:sp>
      <p:sp>
        <p:nvSpPr>
          <p:cNvPr id="3" name="Shape 1"/>
          <p:cNvSpPr/>
          <p:nvPr/>
        </p:nvSpPr>
        <p:spPr>
          <a:xfrm>
            <a:off x="365760" y="173736"/>
            <a:ext cx="91440" cy="219456"/>
          </a:xfrm>
          <a:prstGeom prst="rect">
            <a:avLst/>
          </a:prstGeom>
          <a:solidFill>
            <a:srgbClr val="F2A541"/>
          </a:solidFill>
          <a:ln w="12700">
            <a:solidFill>
              <a:srgbClr val="F2A541"/>
            </a:solidFill>
            <a:prstDash val="solid"/>
          </a:ln>
        </p:spPr>
      </p:sp>
      <p:sp>
        <p:nvSpPr>
          <p:cNvPr id="4" name="Text 2"/>
          <p:cNvSpPr txBox="1"/>
          <p:nvPr/>
        </p:nvSpPr>
        <p:spPr>
          <a:xfrm>
            <a:off x="594360" y="82296"/>
            <a:ext cx="7863840" cy="402336"/>
          </a:xfrm>
          <a:prstGeom prst="rect">
            <a:avLst/>
          </a:prstGeom>
          <a:noFill/>
          <a:ln/>
        </p:spPr>
        <p:txBody>
          <a:bodyPr wrap="square" lIns="0" tIns="0" rIns="0" bIns="0" rtlCol="0" anchor="ctr"/>
          <a:lstStyle/>
          <a:p>
            <a:pPr indent="0" marL="0">
              <a:buNone/>
            </a:pPr>
            <a:r>
              <a:rPr lang="en-US" sz="1600" b="1" spc="100" kern="0" dirty="0">
                <a:solidFill>
                  <a:srgbClr val="FFFFFF"/>
                </a:solidFill>
                <a:latin typeface="Calibri" pitchFamily="34" charset="0"/>
                <a:ea typeface="Calibri" pitchFamily="34" charset="-122"/>
                <a:cs typeface="Calibri" pitchFamily="34" charset="-120"/>
              </a:rPr>
              <a:t>OBJECTIVES &amp; PROPOSED SOLUTION</a:t>
            </a:r>
            <a:endParaRPr lang="en-US" sz="1600" dirty="0"/>
          </a:p>
        </p:txBody>
      </p:sp>
      <p:sp>
        <p:nvSpPr>
          <p:cNvPr id="5" name="Text 3"/>
          <p:cNvSpPr txBox="1"/>
          <p:nvPr/>
        </p:nvSpPr>
        <p:spPr>
          <a:xfrm>
            <a:off x="365760" y="4846320"/>
            <a:ext cx="5486400" cy="201168"/>
          </a:xfrm>
          <a:prstGeom prst="rect">
            <a:avLst/>
          </a:prstGeom>
          <a:noFill/>
          <a:ln/>
        </p:spPr>
        <p:txBody>
          <a:bodyPr wrap="square" lIns="0" tIns="0" rIns="0" bIns="0" rtlCol="0" anchor="t"/>
          <a:lstStyle/>
          <a:p>
            <a:pPr indent="0" marL="0">
              <a:buNone/>
            </a:pPr>
            <a:r>
              <a:rPr lang="en-US" sz="850" dirty="0">
                <a:solidFill>
                  <a:srgbClr val="5B6B7B"/>
                </a:solidFill>
                <a:latin typeface="Calibri" pitchFamily="34" charset="0"/>
                <a:ea typeface="Calibri" pitchFamily="34" charset="-122"/>
                <a:cs typeface="Calibri" pitchFamily="34" charset="-120"/>
              </a:rPr>
              <a:t>Dynamic ETA Forecasting Engine  |  Alva’s Institute of Engineering &amp; Technology</a:t>
            </a:r>
            <a:endParaRPr lang="en-US" sz="850" dirty="0"/>
          </a:p>
        </p:txBody>
      </p:sp>
      <p:sp>
        <p:nvSpPr>
          <p:cNvPr id="6" name="Text 4"/>
          <p:cNvSpPr txBox="1"/>
          <p:nvPr/>
        </p:nvSpPr>
        <p:spPr>
          <a:xfrm>
            <a:off x="7863840" y="4846320"/>
            <a:ext cx="914400" cy="201168"/>
          </a:xfrm>
          <a:prstGeom prst="rect">
            <a:avLst/>
          </a:prstGeom>
          <a:noFill/>
          <a:ln/>
        </p:spPr>
        <p:txBody>
          <a:bodyPr wrap="square" lIns="0" tIns="0" rIns="0" bIns="0" rtlCol="0" anchor="t"/>
          <a:lstStyle/>
          <a:p>
            <a:pPr algn="r" indent="0" marL="0">
              <a:buNone/>
            </a:pPr>
            <a:r>
              <a:rPr lang="en-US" sz="850" dirty="0">
                <a:solidFill>
                  <a:srgbClr val="5B6B7B"/>
                </a:solidFill>
                <a:latin typeface="Calibri" pitchFamily="34" charset="0"/>
                <a:ea typeface="Calibri" pitchFamily="34" charset="-122"/>
                <a:cs typeface="Calibri" pitchFamily="34" charset="-120"/>
              </a:rPr>
              <a:t>3 / 9</a:t>
            </a:r>
            <a:endParaRPr lang="en-US" sz="850" dirty="0"/>
          </a:p>
        </p:txBody>
      </p:sp>
      <p:sp>
        <p:nvSpPr>
          <p:cNvPr id="8" name="Text 5"/>
          <p:cNvSpPr txBox="1"/>
          <p:nvPr/>
        </p:nvSpPr>
        <p:spPr>
          <a:xfrm>
            <a:off x="365760" y="694944"/>
            <a:ext cx="3657600" cy="201168"/>
          </a:xfrm>
          <a:prstGeom prst="rect">
            <a:avLst/>
          </a:prstGeom>
          <a:noFill/>
          <a:ln/>
        </p:spPr>
        <p:txBody>
          <a:bodyPr wrap="square" lIns="0" tIns="0" rIns="0" bIns="0" rtlCol="0" anchor="t"/>
          <a:lstStyle/>
          <a:p>
            <a:pPr indent="0" marL="0">
              <a:buNone/>
            </a:pPr>
            <a:r>
              <a:rPr lang="en-US" sz="950" b="1" spc="150" kern="0" dirty="0">
                <a:solidFill>
                  <a:srgbClr val="0FA3B1"/>
                </a:solidFill>
                <a:latin typeface="Calibri" pitchFamily="34" charset="0"/>
                <a:ea typeface="Calibri" pitchFamily="34" charset="-122"/>
                <a:cs typeface="Calibri" pitchFamily="34" charset="-120"/>
              </a:rPr>
              <a:t>OBJECTIVES</a:t>
            </a:r>
            <a:endParaRPr lang="en-US" sz="950" dirty="0"/>
          </a:p>
        </p:txBody>
      </p:sp>
      <p:sp>
        <p:nvSpPr>
          <p:cNvPr id="9" name="Shape 6"/>
          <p:cNvSpPr/>
          <p:nvPr/>
        </p:nvSpPr>
        <p:spPr>
          <a:xfrm>
            <a:off x="365760" y="932688"/>
            <a:ext cx="4160520" cy="841248"/>
          </a:xfrm>
          <a:prstGeom prst="roundRect">
            <a:avLst>
              <a:gd name="adj" fmla="val 5435"/>
            </a:avLst>
          </a:prstGeom>
          <a:solidFill>
            <a:srgbClr val="FFFFFF"/>
          </a:solidFill>
          <a:ln w="9525">
            <a:solidFill>
              <a:srgbClr val="D3DCE5"/>
            </a:solidFill>
            <a:prstDash val="solid"/>
          </a:ln>
        </p:spPr>
      </p:sp>
      <p:sp>
        <p:nvSpPr>
          <p:cNvPr id="10" name="Shape 7"/>
          <p:cNvSpPr/>
          <p:nvPr/>
        </p:nvSpPr>
        <p:spPr>
          <a:xfrm>
            <a:off x="493776" y="1060704"/>
            <a:ext cx="329184" cy="329184"/>
          </a:xfrm>
          <a:prstGeom prst="ellipse">
            <a:avLst/>
          </a:prstGeom>
          <a:solidFill>
            <a:srgbClr val="0FA3B1"/>
          </a:solidFill>
          <a:ln w="12700">
            <a:solidFill>
              <a:srgbClr val="0FA3B1"/>
            </a:solidFill>
            <a:prstDash val="solid"/>
          </a:ln>
        </p:spPr>
      </p:sp>
      <p:sp>
        <p:nvSpPr>
          <p:cNvPr id="11" name="Text 8"/>
          <p:cNvSpPr txBox="1"/>
          <p:nvPr/>
        </p:nvSpPr>
        <p:spPr>
          <a:xfrm>
            <a:off x="493776" y="10607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9"/>
          <p:cNvSpPr txBox="1"/>
          <p:nvPr/>
        </p:nvSpPr>
        <p:spPr>
          <a:xfrm>
            <a:off x="960120" y="1005840"/>
            <a:ext cx="3474720" cy="713232"/>
          </a:xfrm>
          <a:prstGeom prst="rect">
            <a:avLst/>
          </a:prstGeom>
          <a:noFill/>
          <a:ln/>
        </p:spPr>
        <p:txBody>
          <a:bodyPr wrap="square" lIns="0" tIns="0" rIns="0" bIns="0" rtlCol="0" anchor="t"/>
          <a:lstStyle/>
          <a:p>
            <a:pPr indent="0" marL="0">
              <a:spcAft>
                <a:spcPts val="200"/>
              </a:spcAft>
              <a:buNone/>
            </a:pPr>
            <a:r>
              <a:rPr lang="en-US" sz="1150" b="1" dirty="0">
                <a:solidFill>
                  <a:srgbClr val="1B2B3A"/>
                </a:solidFill>
                <a:latin typeface="Calibri" pitchFamily="34" charset="0"/>
                <a:ea typeface="Calibri" pitchFamily="34" charset="-122"/>
                <a:cs typeface="Calibri" pitchFamily="34" charset="-120"/>
              </a:rPr>
              <a:t>Simulate</a:t>
            </a:r>
            <a:endParaRPr lang="en-US" sz="1150" dirty="0"/>
          </a:p>
          <a:p>
            <a:pPr indent="0" marL="0">
              <a:spcAft>
                <a:spcPts val="200"/>
              </a:spcAft>
              <a:buNone/>
            </a:pPr>
            <a:r>
              <a:rPr lang="en-US" sz="950" dirty="0">
                <a:solidFill>
                  <a:srgbClr val="5B6B7B"/>
                </a:solidFill>
                <a:latin typeface="Calibri" pitchFamily="34" charset="0"/>
                <a:ea typeface="Calibri" pitchFamily="34" charset="-122"/>
                <a:cs typeface="Calibri" pitchFamily="34" charset="-120"/>
              </a:rPr>
              <a:t>Build a simulator that advances 8 express trains on 3 corridors (1,447, 1,386 and 359 km) and injects 5 kinds of disruption on demand.</a:t>
            </a:r>
            <a:endParaRPr lang="en-US" sz="1150" dirty="0"/>
          </a:p>
        </p:txBody>
      </p:sp>
      <p:sp>
        <p:nvSpPr>
          <p:cNvPr id="13" name="Shape 10"/>
          <p:cNvSpPr/>
          <p:nvPr/>
        </p:nvSpPr>
        <p:spPr>
          <a:xfrm>
            <a:off x="4617720" y="932688"/>
            <a:ext cx="4160520" cy="841248"/>
          </a:xfrm>
          <a:prstGeom prst="roundRect">
            <a:avLst>
              <a:gd name="adj" fmla="val 5435"/>
            </a:avLst>
          </a:prstGeom>
          <a:solidFill>
            <a:srgbClr val="FFFFFF"/>
          </a:solidFill>
          <a:ln w="9525">
            <a:solidFill>
              <a:srgbClr val="D3DCE5"/>
            </a:solidFill>
            <a:prstDash val="solid"/>
          </a:ln>
        </p:spPr>
      </p:sp>
      <p:sp>
        <p:nvSpPr>
          <p:cNvPr id="14" name="Shape 11"/>
          <p:cNvSpPr/>
          <p:nvPr/>
        </p:nvSpPr>
        <p:spPr>
          <a:xfrm>
            <a:off x="4745736" y="1060704"/>
            <a:ext cx="329184" cy="329184"/>
          </a:xfrm>
          <a:prstGeom prst="ellipse">
            <a:avLst/>
          </a:prstGeom>
          <a:solidFill>
            <a:srgbClr val="0FA3B1"/>
          </a:solidFill>
          <a:ln w="12700">
            <a:solidFill>
              <a:srgbClr val="0FA3B1"/>
            </a:solidFill>
            <a:prstDash val="solid"/>
          </a:ln>
        </p:spPr>
      </p:sp>
      <p:sp>
        <p:nvSpPr>
          <p:cNvPr id="15" name="Text 12"/>
          <p:cNvSpPr txBox="1"/>
          <p:nvPr/>
        </p:nvSpPr>
        <p:spPr>
          <a:xfrm>
            <a:off x="4745736" y="10607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5212080" y="1005840"/>
            <a:ext cx="3474720" cy="713232"/>
          </a:xfrm>
          <a:prstGeom prst="rect">
            <a:avLst/>
          </a:prstGeom>
          <a:noFill/>
          <a:ln/>
        </p:spPr>
        <p:txBody>
          <a:bodyPr wrap="square" lIns="0" tIns="0" rIns="0" bIns="0" rtlCol="0" anchor="t"/>
          <a:lstStyle/>
          <a:p>
            <a:pPr indent="0" marL="0">
              <a:spcAft>
                <a:spcPts val="200"/>
              </a:spcAft>
              <a:buNone/>
            </a:pPr>
            <a:r>
              <a:rPr lang="en-US" sz="1150" b="1" dirty="0">
                <a:solidFill>
                  <a:srgbClr val="1B2B3A"/>
                </a:solidFill>
                <a:latin typeface="Calibri" pitchFamily="34" charset="0"/>
                <a:ea typeface="Calibri" pitchFamily="34" charset="-122"/>
                <a:cs typeface="Calibri" pitchFamily="34" charset="-120"/>
              </a:rPr>
              <a:t>Predict</a:t>
            </a:r>
            <a:endParaRPr lang="en-US" sz="1150" dirty="0"/>
          </a:p>
          <a:p>
            <a:pPr indent="0" marL="0">
              <a:spcAft>
                <a:spcPts val="200"/>
              </a:spcAft>
              <a:buNone/>
            </a:pPr>
            <a:r>
              <a:rPr lang="en-US" sz="950" dirty="0">
                <a:solidFill>
                  <a:srgbClr val="5B6B7B"/>
                </a:solidFill>
                <a:latin typeface="Calibri" pitchFamily="34" charset="0"/>
                <a:ea typeface="Calibri" pitchFamily="34" charset="-122"/>
                <a:cs typeface="Calibri" pitchFamily="34" charset="-120"/>
              </a:rPr>
              <a:t>Train XGBoost on 11 inputs to predict delay vs the timetable and beat the baseline on unseen journeys at 1, 3 and 5 stations ahead.</a:t>
            </a:r>
            <a:endParaRPr lang="en-US" sz="1150" dirty="0"/>
          </a:p>
        </p:txBody>
      </p:sp>
      <p:sp>
        <p:nvSpPr>
          <p:cNvPr id="17" name="Shape 14"/>
          <p:cNvSpPr/>
          <p:nvPr/>
        </p:nvSpPr>
        <p:spPr>
          <a:xfrm>
            <a:off x="365760" y="1847088"/>
            <a:ext cx="4160520" cy="841248"/>
          </a:xfrm>
          <a:prstGeom prst="roundRect">
            <a:avLst>
              <a:gd name="adj" fmla="val 5435"/>
            </a:avLst>
          </a:prstGeom>
          <a:solidFill>
            <a:srgbClr val="FFFFFF"/>
          </a:solidFill>
          <a:ln w="9525">
            <a:solidFill>
              <a:srgbClr val="D3DCE5"/>
            </a:solidFill>
            <a:prstDash val="solid"/>
          </a:ln>
        </p:spPr>
      </p:sp>
      <p:sp>
        <p:nvSpPr>
          <p:cNvPr id="18" name="Shape 15"/>
          <p:cNvSpPr/>
          <p:nvPr/>
        </p:nvSpPr>
        <p:spPr>
          <a:xfrm>
            <a:off x="493776" y="1975104"/>
            <a:ext cx="329184" cy="329184"/>
          </a:xfrm>
          <a:prstGeom prst="ellipse">
            <a:avLst/>
          </a:prstGeom>
          <a:solidFill>
            <a:srgbClr val="0FA3B1"/>
          </a:solidFill>
          <a:ln w="12700">
            <a:solidFill>
              <a:srgbClr val="0FA3B1"/>
            </a:solidFill>
            <a:prstDash val="solid"/>
          </a:ln>
        </p:spPr>
      </p:sp>
      <p:sp>
        <p:nvSpPr>
          <p:cNvPr id="19" name="Text 16"/>
          <p:cNvSpPr txBox="1"/>
          <p:nvPr/>
        </p:nvSpPr>
        <p:spPr>
          <a:xfrm>
            <a:off x="493776" y="19751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txBox="1"/>
          <p:nvPr/>
        </p:nvSpPr>
        <p:spPr>
          <a:xfrm>
            <a:off x="960120" y="1920240"/>
            <a:ext cx="3474720" cy="713232"/>
          </a:xfrm>
          <a:prstGeom prst="rect">
            <a:avLst/>
          </a:prstGeom>
          <a:noFill/>
          <a:ln/>
        </p:spPr>
        <p:txBody>
          <a:bodyPr wrap="square" lIns="0" tIns="0" rIns="0" bIns="0" rtlCol="0" anchor="t"/>
          <a:lstStyle/>
          <a:p>
            <a:pPr indent="0" marL="0">
              <a:spcAft>
                <a:spcPts val="200"/>
              </a:spcAft>
              <a:buNone/>
            </a:pPr>
            <a:r>
              <a:rPr lang="en-US" sz="1150" b="1" dirty="0">
                <a:solidFill>
                  <a:srgbClr val="1B2B3A"/>
                </a:solidFill>
                <a:latin typeface="Calibri" pitchFamily="34" charset="0"/>
                <a:ea typeface="Calibri" pitchFamily="34" charset="-122"/>
                <a:cs typeface="Calibri" pitchFamily="34" charset="-120"/>
              </a:rPr>
              <a:t>Serve</a:t>
            </a:r>
            <a:endParaRPr lang="en-US" sz="1150" dirty="0"/>
          </a:p>
          <a:p>
            <a:pPr indent="0" marL="0">
              <a:spcAft>
                <a:spcPts val="200"/>
              </a:spcAft>
              <a:buNone/>
            </a:pPr>
            <a:r>
              <a:rPr lang="en-US" sz="950" dirty="0">
                <a:solidFill>
                  <a:srgbClr val="5B6B7B"/>
                </a:solidFill>
                <a:latin typeface="Calibri" pitchFamily="34" charset="0"/>
                <a:ea typeface="Calibri" pitchFamily="34" charset="-122"/>
                <a:cs typeface="Calibri" pitchFamily="34" charset="-120"/>
              </a:rPr>
              <a:t>Expose baseline and ML ETAs with confidence ranges through a typed FastAPI REST API (12 endpoints) and a 60 s cache for live data.</a:t>
            </a:r>
            <a:endParaRPr lang="en-US" sz="1150" dirty="0"/>
          </a:p>
        </p:txBody>
      </p:sp>
      <p:sp>
        <p:nvSpPr>
          <p:cNvPr id="21" name="Shape 18"/>
          <p:cNvSpPr/>
          <p:nvPr/>
        </p:nvSpPr>
        <p:spPr>
          <a:xfrm>
            <a:off x="4617720" y="1847088"/>
            <a:ext cx="4160520" cy="841248"/>
          </a:xfrm>
          <a:prstGeom prst="roundRect">
            <a:avLst>
              <a:gd name="adj" fmla="val 5435"/>
            </a:avLst>
          </a:prstGeom>
          <a:solidFill>
            <a:srgbClr val="FFFFFF"/>
          </a:solidFill>
          <a:ln w="9525">
            <a:solidFill>
              <a:srgbClr val="D3DCE5"/>
            </a:solidFill>
            <a:prstDash val="solid"/>
          </a:ln>
        </p:spPr>
      </p:sp>
      <p:sp>
        <p:nvSpPr>
          <p:cNvPr id="22" name="Shape 19"/>
          <p:cNvSpPr/>
          <p:nvPr/>
        </p:nvSpPr>
        <p:spPr>
          <a:xfrm>
            <a:off x="4745736" y="1975104"/>
            <a:ext cx="329184" cy="329184"/>
          </a:xfrm>
          <a:prstGeom prst="ellipse">
            <a:avLst/>
          </a:prstGeom>
          <a:solidFill>
            <a:srgbClr val="0FA3B1"/>
          </a:solidFill>
          <a:ln w="12700">
            <a:solidFill>
              <a:srgbClr val="0FA3B1"/>
            </a:solidFill>
            <a:prstDash val="solid"/>
          </a:ln>
        </p:spPr>
      </p:sp>
      <p:sp>
        <p:nvSpPr>
          <p:cNvPr id="23" name="Text 20"/>
          <p:cNvSpPr txBox="1"/>
          <p:nvPr/>
        </p:nvSpPr>
        <p:spPr>
          <a:xfrm>
            <a:off x="4745736" y="19751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1"/>
          <p:cNvSpPr txBox="1"/>
          <p:nvPr/>
        </p:nvSpPr>
        <p:spPr>
          <a:xfrm>
            <a:off x="5212080" y="1920240"/>
            <a:ext cx="3474720" cy="713232"/>
          </a:xfrm>
          <a:prstGeom prst="rect">
            <a:avLst/>
          </a:prstGeom>
          <a:noFill/>
          <a:ln/>
        </p:spPr>
        <p:txBody>
          <a:bodyPr wrap="square" lIns="0" tIns="0" rIns="0" bIns="0" rtlCol="0" anchor="t"/>
          <a:lstStyle/>
          <a:p>
            <a:pPr indent="0" marL="0">
              <a:spcAft>
                <a:spcPts val="200"/>
              </a:spcAft>
              <a:buNone/>
            </a:pPr>
            <a:r>
              <a:rPr lang="en-US" sz="1150" b="1" dirty="0">
                <a:solidFill>
                  <a:srgbClr val="1B2B3A"/>
                </a:solidFill>
                <a:latin typeface="Calibri" pitchFamily="34" charset="0"/>
                <a:ea typeface="Calibri" pitchFamily="34" charset="-122"/>
                <a:cs typeface="Calibri" pitchFamily="34" charset="-120"/>
              </a:rPr>
              <a:t>Present</a:t>
            </a:r>
            <a:endParaRPr lang="en-US" sz="1150" dirty="0"/>
          </a:p>
          <a:p>
            <a:pPr indent="0" marL="0">
              <a:spcAft>
                <a:spcPts val="200"/>
              </a:spcAft>
              <a:buNone/>
            </a:pPr>
            <a:r>
              <a:rPr lang="en-US" sz="950" dirty="0">
                <a:solidFill>
                  <a:srgbClr val="5B6B7B"/>
                </a:solidFill>
                <a:latin typeface="Calibri" pitchFamily="34" charset="0"/>
                <a:ea typeface="Calibri" pitchFamily="34" charset="-122"/>
                <a:cs typeface="Calibri" pitchFamily="34" charset="-120"/>
              </a:rPr>
              <a:t>Deliver four screens: Control Room, Passenger Lookup, Station Board and Model Evaluation, all reading the same API.</a:t>
            </a:r>
            <a:endParaRPr lang="en-US" sz="1150" dirty="0"/>
          </a:p>
        </p:txBody>
      </p:sp>
      <p:sp>
        <p:nvSpPr>
          <p:cNvPr id="25" name="Text 22"/>
          <p:cNvSpPr txBox="1"/>
          <p:nvPr/>
        </p:nvSpPr>
        <p:spPr>
          <a:xfrm>
            <a:off x="365760" y="2862072"/>
            <a:ext cx="3657600" cy="201168"/>
          </a:xfrm>
          <a:prstGeom prst="rect">
            <a:avLst/>
          </a:prstGeom>
          <a:noFill/>
          <a:ln/>
        </p:spPr>
        <p:txBody>
          <a:bodyPr wrap="square" lIns="0" tIns="0" rIns="0" bIns="0" rtlCol="0" anchor="t"/>
          <a:lstStyle/>
          <a:p>
            <a:pPr indent="0" marL="0">
              <a:buNone/>
            </a:pPr>
            <a:r>
              <a:rPr lang="en-US" sz="950" b="1" spc="150" kern="0" dirty="0">
                <a:solidFill>
                  <a:srgbClr val="0FA3B1"/>
                </a:solidFill>
                <a:latin typeface="Calibri" pitchFamily="34" charset="0"/>
                <a:ea typeface="Calibri" pitchFamily="34" charset="-122"/>
                <a:cs typeface="Calibri" pitchFamily="34" charset="-120"/>
              </a:rPr>
              <a:t>PROPOSED SOLUTION</a:t>
            </a:r>
            <a:endParaRPr lang="en-US" sz="950" dirty="0"/>
          </a:p>
        </p:txBody>
      </p:sp>
      <p:sp>
        <p:nvSpPr>
          <p:cNvPr id="26" name="Shape 23"/>
          <p:cNvSpPr/>
          <p:nvPr/>
        </p:nvSpPr>
        <p:spPr>
          <a:xfrm>
            <a:off x="365760" y="3108960"/>
            <a:ext cx="1234440" cy="502920"/>
          </a:xfrm>
          <a:prstGeom prst="roundRect">
            <a:avLst>
              <a:gd name="adj" fmla="val 7273"/>
            </a:avLst>
          </a:prstGeom>
          <a:solidFill>
            <a:srgbClr val="0B1F33"/>
          </a:solidFill>
          <a:ln w="12700">
            <a:solidFill>
              <a:srgbClr val="0B1F33"/>
            </a:solidFill>
            <a:prstDash val="solid"/>
          </a:ln>
        </p:spPr>
      </p:sp>
      <p:sp>
        <p:nvSpPr>
          <p:cNvPr id="27" name="Text 24"/>
          <p:cNvSpPr txBox="1"/>
          <p:nvPr/>
        </p:nvSpPr>
        <p:spPr>
          <a:xfrm>
            <a:off x="365760" y="3108960"/>
            <a:ext cx="123444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Simulator</a:t>
            </a:r>
            <a:endParaRPr lang="en-US" sz="1050" dirty="0"/>
          </a:p>
        </p:txBody>
      </p:sp>
      <p:sp>
        <p:nvSpPr>
          <p:cNvPr id="28" name="Shape 25"/>
          <p:cNvSpPr/>
          <p:nvPr/>
        </p:nvSpPr>
        <p:spPr>
          <a:xfrm>
            <a:off x="1623060" y="3268980"/>
            <a:ext cx="155448" cy="182880"/>
          </a:xfrm>
          <a:prstGeom prst="rightArrow">
            <a:avLst/>
          </a:prstGeom>
          <a:solidFill>
            <a:srgbClr val="5B6B7B"/>
          </a:solidFill>
          <a:ln w="12700">
            <a:solidFill>
              <a:srgbClr val="5B6B7B"/>
            </a:solidFill>
            <a:prstDash val="solid"/>
          </a:ln>
        </p:spPr>
      </p:sp>
      <p:sp>
        <p:nvSpPr>
          <p:cNvPr id="29" name="Shape 26"/>
          <p:cNvSpPr/>
          <p:nvPr/>
        </p:nvSpPr>
        <p:spPr>
          <a:xfrm>
            <a:off x="1801368" y="3108960"/>
            <a:ext cx="1234440" cy="502920"/>
          </a:xfrm>
          <a:prstGeom prst="roundRect">
            <a:avLst>
              <a:gd name="adj" fmla="val 7273"/>
            </a:avLst>
          </a:prstGeom>
          <a:solidFill>
            <a:srgbClr val="0B1F33"/>
          </a:solidFill>
          <a:ln w="12700">
            <a:solidFill>
              <a:srgbClr val="0B1F33"/>
            </a:solidFill>
            <a:prstDash val="solid"/>
          </a:ln>
        </p:spPr>
      </p:sp>
      <p:sp>
        <p:nvSpPr>
          <p:cNvPr id="30" name="Text 27"/>
          <p:cNvSpPr txBox="1"/>
          <p:nvPr/>
        </p:nvSpPr>
        <p:spPr>
          <a:xfrm>
            <a:off x="1801368" y="3108960"/>
            <a:ext cx="123444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Feature builder</a:t>
            </a:r>
            <a:endParaRPr lang="en-US" sz="1050" dirty="0"/>
          </a:p>
        </p:txBody>
      </p:sp>
      <p:sp>
        <p:nvSpPr>
          <p:cNvPr id="31" name="Shape 28"/>
          <p:cNvSpPr/>
          <p:nvPr/>
        </p:nvSpPr>
        <p:spPr>
          <a:xfrm>
            <a:off x="3058668" y="3268980"/>
            <a:ext cx="155448" cy="182880"/>
          </a:xfrm>
          <a:prstGeom prst="rightArrow">
            <a:avLst/>
          </a:prstGeom>
          <a:solidFill>
            <a:srgbClr val="5B6B7B"/>
          </a:solidFill>
          <a:ln w="12700">
            <a:solidFill>
              <a:srgbClr val="5B6B7B"/>
            </a:solidFill>
            <a:prstDash val="solid"/>
          </a:ln>
        </p:spPr>
      </p:sp>
      <p:sp>
        <p:nvSpPr>
          <p:cNvPr id="32" name="Shape 29"/>
          <p:cNvSpPr/>
          <p:nvPr/>
        </p:nvSpPr>
        <p:spPr>
          <a:xfrm>
            <a:off x="3236976" y="3108960"/>
            <a:ext cx="1234440" cy="502920"/>
          </a:xfrm>
          <a:prstGeom prst="roundRect">
            <a:avLst>
              <a:gd name="adj" fmla="val 7273"/>
            </a:avLst>
          </a:prstGeom>
          <a:solidFill>
            <a:srgbClr val="0FA3B1"/>
          </a:solidFill>
          <a:ln w="12700">
            <a:solidFill>
              <a:srgbClr val="0FA3B1"/>
            </a:solidFill>
            <a:prstDash val="solid"/>
          </a:ln>
        </p:spPr>
      </p:sp>
      <p:sp>
        <p:nvSpPr>
          <p:cNvPr id="33" name="Text 30"/>
          <p:cNvSpPr txBox="1"/>
          <p:nvPr/>
        </p:nvSpPr>
        <p:spPr>
          <a:xfrm>
            <a:off x="3236976" y="3108960"/>
            <a:ext cx="123444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XGBoost model</a:t>
            </a:r>
            <a:endParaRPr lang="en-US" sz="1050" dirty="0"/>
          </a:p>
        </p:txBody>
      </p:sp>
      <p:sp>
        <p:nvSpPr>
          <p:cNvPr id="34" name="Shape 31"/>
          <p:cNvSpPr/>
          <p:nvPr/>
        </p:nvSpPr>
        <p:spPr>
          <a:xfrm>
            <a:off x="4494276" y="3268980"/>
            <a:ext cx="155448" cy="182880"/>
          </a:xfrm>
          <a:prstGeom prst="rightArrow">
            <a:avLst/>
          </a:prstGeom>
          <a:solidFill>
            <a:srgbClr val="5B6B7B"/>
          </a:solidFill>
          <a:ln w="12700">
            <a:solidFill>
              <a:srgbClr val="5B6B7B"/>
            </a:solidFill>
            <a:prstDash val="solid"/>
          </a:ln>
        </p:spPr>
      </p:sp>
      <p:sp>
        <p:nvSpPr>
          <p:cNvPr id="35" name="Shape 32"/>
          <p:cNvSpPr/>
          <p:nvPr/>
        </p:nvSpPr>
        <p:spPr>
          <a:xfrm>
            <a:off x="4672584" y="3108960"/>
            <a:ext cx="1234440" cy="502920"/>
          </a:xfrm>
          <a:prstGeom prst="roundRect">
            <a:avLst>
              <a:gd name="adj" fmla="val 7273"/>
            </a:avLst>
          </a:prstGeom>
          <a:solidFill>
            <a:srgbClr val="0FA3B1"/>
          </a:solidFill>
          <a:ln w="12700">
            <a:solidFill>
              <a:srgbClr val="0FA3B1"/>
            </a:solidFill>
            <a:prstDash val="solid"/>
          </a:ln>
        </p:spPr>
      </p:sp>
      <p:sp>
        <p:nvSpPr>
          <p:cNvPr id="36" name="Text 33"/>
          <p:cNvSpPr txBox="1"/>
          <p:nvPr/>
        </p:nvSpPr>
        <p:spPr>
          <a:xfrm>
            <a:off x="4672584" y="3108960"/>
            <a:ext cx="123444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Station chaining</a:t>
            </a:r>
            <a:endParaRPr lang="en-US" sz="1050" dirty="0"/>
          </a:p>
        </p:txBody>
      </p:sp>
      <p:sp>
        <p:nvSpPr>
          <p:cNvPr id="37" name="Shape 34"/>
          <p:cNvSpPr/>
          <p:nvPr/>
        </p:nvSpPr>
        <p:spPr>
          <a:xfrm>
            <a:off x="5929884" y="3268980"/>
            <a:ext cx="155448" cy="182880"/>
          </a:xfrm>
          <a:prstGeom prst="rightArrow">
            <a:avLst/>
          </a:prstGeom>
          <a:solidFill>
            <a:srgbClr val="5B6B7B"/>
          </a:solidFill>
          <a:ln w="12700">
            <a:solidFill>
              <a:srgbClr val="5B6B7B"/>
            </a:solidFill>
            <a:prstDash val="solid"/>
          </a:ln>
        </p:spPr>
      </p:sp>
      <p:sp>
        <p:nvSpPr>
          <p:cNvPr id="38" name="Shape 35"/>
          <p:cNvSpPr/>
          <p:nvPr/>
        </p:nvSpPr>
        <p:spPr>
          <a:xfrm>
            <a:off x="6108192" y="3108960"/>
            <a:ext cx="1234440" cy="502920"/>
          </a:xfrm>
          <a:prstGeom prst="roundRect">
            <a:avLst>
              <a:gd name="adj" fmla="val 7273"/>
            </a:avLst>
          </a:prstGeom>
          <a:solidFill>
            <a:srgbClr val="0B1F33"/>
          </a:solidFill>
          <a:ln w="12700">
            <a:solidFill>
              <a:srgbClr val="0B1F33"/>
            </a:solidFill>
            <a:prstDash val="solid"/>
          </a:ln>
        </p:spPr>
      </p:sp>
      <p:sp>
        <p:nvSpPr>
          <p:cNvPr id="39" name="Text 36"/>
          <p:cNvSpPr txBox="1"/>
          <p:nvPr/>
        </p:nvSpPr>
        <p:spPr>
          <a:xfrm>
            <a:off x="6108192" y="3108960"/>
            <a:ext cx="123444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FastAPI</a:t>
            </a:r>
            <a:endParaRPr lang="en-US" sz="1050" dirty="0"/>
          </a:p>
        </p:txBody>
      </p:sp>
      <p:sp>
        <p:nvSpPr>
          <p:cNvPr id="40" name="Shape 37"/>
          <p:cNvSpPr/>
          <p:nvPr/>
        </p:nvSpPr>
        <p:spPr>
          <a:xfrm>
            <a:off x="7365492" y="3268980"/>
            <a:ext cx="155448" cy="182880"/>
          </a:xfrm>
          <a:prstGeom prst="rightArrow">
            <a:avLst/>
          </a:prstGeom>
          <a:solidFill>
            <a:srgbClr val="5B6B7B"/>
          </a:solidFill>
          <a:ln w="12700">
            <a:solidFill>
              <a:srgbClr val="5B6B7B"/>
            </a:solidFill>
            <a:prstDash val="solid"/>
          </a:ln>
        </p:spPr>
      </p:sp>
      <p:sp>
        <p:nvSpPr>
          <p:cNvPr id="41" name="Shape 38"/>
          <p:cNvSpPr/>
          <p:nvPr/>
        </p:nvSpPr>
        <p:spPr>
          <a:xfrm>
            <a:off x="7543800" y="3108960"/>
            <a:ext cx="1234440" cy="502920"/>
          </a:xfrm>
          <a:prstGeom prst="roundRect">
            <a:avLst>
              <a:gd name="adj" fmla="val 7273"/>
            </a:avLst>
          </a:prstGeom>
          <a:solidFill>
            <a:srgbClr val="F2A541"/>
          </a:solidFill>
          <a:ln w="12700">
            <a:solidFill>
              <a:srgbClr val="F2A541"/>
            </a:solidFill>
            <a:prstDash val="solid"/>
          </a:ln>
        </p:spPr>
      </p:sp>
      <p:sp>
        <p:nvSpPr>
          <p:cNvPr id="42" name="Text 39"/>
          <p:cNvSpPr txBox="1"/>
          <p:nvPr/>
        </p:nvSpPr>
        <p:spPr>
          <a:xfrm>
            <a:off x="7543800" y="3108960"/>
            <a:ext cx="1234440" cy="502920"/>
          </a:xfrm>
          <a:prstGeom prst="rect">
            <a:avLst/>
          </a:prstGeom>
          <a:noFill/>
          <a:ln/>
        </p:spPr>
        <p:txBody>
          <a:bodyPr wrap="square" lIns="0" tIns="0" rIns="0" bIns="0" rtlCol="0" anchor="ctr"/>
          <a:lstStyle/>
          <a:p>
            <a:pPr algn="ctr" indent="0" marL="0">
              <a:buNone/>
            </a:pPr>
            <a:r>
              <a:rPr lang="en-US" sz="1050" b="1" dirty="0">
                <a:solidFill>
                  <a:srgbClr val="1B2B3A"/>
                </a:solidFill>
                <a:latin typeface="Calibri" pitchFamily="34" charset="0"/>
                <a:ea typeface="Calibri" pitchFamily="34" charset="-122"/>
                <a:cs typeface="Calibri" pitchFamily="34" charset="-120"/>
              </a:rPr>
              <a:t>Four screens</a:t>
            </a:r>
            <a:endParaRPr lang="en-US" sz="1050" dirty="0"/>
          </a:p>
        </p:txBody>
      </p:sp>
      <p:sp>
        <p:nvSpPr>
          <p:cNvPr id="43" name="Shape 40"/>
          <p:cNvSpPr/>
          <p:nvPr/>
        </p:nvSpPr>
        <p:spPr>
          <a:xfrm>
            <a:off x="365760" y="3840480"/>
            <a:ext cx="8412480" cy="868680"/>
          </a:xfrm>
          <a:prstGeom prst="roundRect">
            <a:avLst>
              <a:gd name="adj" fmla="val 5263"/>
            </a:avLst>
          </a:prstGeom>
          <a:solidFill>
            <a:srgbClr val="FFF6E8"/>
          </a:solidFill>
          <a:ln w="9525">
            <a:solidFill>
              <a:srgbClr val="F2A541"/>
            </a:solidFill>
            <a:prstDash val="solid"/>
          </a:ln>
        </p:spPr>
      </p:sp>
      <p:sp>
        <p:nvSpPr>
          <p:cNvPr id="44" name="Text 41"/>
          <p:cNvSpPr txBox="1"/>
          <p:nvPr/>
        </p:nvSpPr>
        <p:spPr>
          <a:xfrm>
            <a:off x="548640" y="3886200"/>
            <a:ext cx="8046720" cy="777240"/>
          </a:xfrm>
          <a:prstGeom prst="rect">
            <a:avLst/>
          </a:prstGeom>
          <a:noFill/>
          <a:ln/>
        </p:spPr>
        <p:txBody>
          <a:bodyPr wrap="square" lIns="0" tIns="0" rIns="0" bIns="0" rtlCol="0" anchor="ctr"/>
          <a:lstStyle/>
          <a:p>
            <a:pPr indent="0" marL="0">
              <a:buNone/>
            </a:pPr>
            <a:r>
              <a:rPr lang="en-US" sz="1100" b="1" dirty="0">
                <a:solidFill>
                  <a:srgbClr val="1B2B3A"/>
                </a:solidFill>
                <a:latin typeface="Calibri" pitchFamily="34" charset="0"/>
                <a:ea typeface="Calibri" pitchFamily="34" charset="-122"/>
                <a:cs typeface="Calibri" pitchFamily="34" charset="-120"/>
              </a:rPr>
              <a:t>What it is: </a:t>
            </a:r>
            <a:pPr indent="0" marL="0">
              <a:buNone/>
            </a:pPr>
            <a:r>
              <a:rPr lang="en-US" sz="1100" dirty="0">
                <a:solidFill>
                  <a:srgbClr val="1B2B3A"/>
                </a:solidFill>
                <a:latin typeface="Calibri" pitchFamily="34" charset="0"/>
                <a:ea typeface="Calibri" pitchFamily="34" charset="-122"/>
                <a:cs typeface="Calibri" pitchFamily="34" charset="-120"/>
              </a:rPr>
              <a:t>A data-driven ETA engine for Indian Railways coaching trains (SIH PS 26028). It re-predicts arrival at every upcoming station and shows a baseline ETA beside the ML ETA.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B1F33"/>
          </a:solidFill>
          <a:ln w="12700">
            <a:solidFill>
              <a:srgbClr val="0B1F33"/>
            </a:solidFill>
            <a:prstDash val="solid"/>
          </a:ln>
        </p:spPr>
      </p:sp>
      <p:sp>
        <p:nvSpPr>
          <p:cNvPr id="3" name="Shape 1"/>
          <p:cNvSpPr/>
          <p:nvPr/>
        </p:nvSpPr>
        <p:spPr>
          <a:xfrm>
            <a:off x="365760" y="173736"/>
            <a:ext cx="91440" cy="219456"/>
          </a:xfrm>
          <a:prstGeom prst="rect">
            <a:avLst/>
          </a:prstGeom>
          <a:solidFill>
            <a:srgbClr val="F2A541"/>
          </a:solidFill>
          <a:ln w="12700">
            <a:solidFill>
              <a:srgbClr val="F2A541"/>
            </a:solidFill>
            <a:prstDash val="solid"/>
          </a:ln>
        </p:spPr>
      </p:sp>
      <p:sp>
        <p:nvSpPr>
          <p:cNvPr id="4" name="Text 2"/>
          <p:cNvSpPr txBox="1"/>
          <p:nvPr/>
        </p:nvSpPr>
        <p:spPr>
          <a:xfrm>
            <a:off x="594360" y="82296"/>
            <a:ext cx="7863840" cy="402336"/>
          </a:xfrm>
          <a:prstGeom prst="rect">
            <a:avLst/>
          </a:prstGeom>
          <a:noFill/>
          <a:ln/>
        </p:spPr>
        <p:txBody>
          <a:bodyPr wrap="square" lIns="0" tIns="0" rIns="0" bIns="0" rtlCol="0" anchor="ctr"/>
          <a:lstStyle/>
          <a:p>
            <a:pPr indent="0" marL="0">
              <a:buNone/>
            </a:pPr>
            <a:r>
              <a:rPr lang="en-US" sz="1600" b="1" spc="100" kern="0" dirty="0">
                <a:solidFill>
                  <a:srgbClr val="FFFFFF"/>
                </a:solidFill>
                <a:latin typeface="Calibri" pitchFamily="34" charset="0"/>
                <a:ea typeface="Calibri" pitchFamily="34" charset="-122"/>
                <a:cs typeface="Calibri" pitchFamily="34" charset="-120"/>
              </a:rPr>
              <a:t>SYSTEM ARCHITECTURE</a:t>
            </a:r>
            <a:endParaRPr lang="en-US" sz="1600" dirty="0"/>
          </a:p>
        </p:txBody>
      </p:sp>
      <p:sp>
        <p:nvSpPr>
          <p:cNvPr id="5" name="Text 3"/>
          <p:cNvSpPr txBox="1"/>
          <p:nvPr/>
        </p:nvSpPr>
        <p:spPr>
          <a:xfrm>
            <a:off x="365760" y="4846320"/>
            <a:ext cx="5486400" cy="201168"/>
          </a:xfrm>
          <a:prstGeom prst="rect">
            <a:avLst/>
          </a:prstGeom>
          <a:noFill/>
          <a:ln/>
        </p:spPr>
        <p:txBody>
          <a:bodyPr wrap="square" lIns="0" tIns="0" rIns="0" bIns="0" rtlCol="0" anchor="t"/>
          <a:lstStyle/>
          <a:p>
            <a:pPr indent="0" marL="0">
              <a:buNone/>
            </a:pPr>
            <a:r>
              <a:rPr lang="en-US" sz="850" dirty="0">
                <a:solidFill>
                  <a:srgbClr val="5B6B7B"/>
                </a:solidFill>
                <a:latin typeface="Calibri" pitchFamily="34" charset="0"/>
                <a:ea typeface="Calibri" pitchFamily="34" charset="-122"/>
                <a:cs typeface="Calibri" pitchFamily="34" charset="-120"/>
              </a:rPr>
              <a:t>Dynamic ETA Forecasting Engine  |  Alva’s Institute of Engineering &amp; Technology</a:t>
            </a:r>
            <a:endParaRPr lang="en-US" sz="850" dirty="0"/>
          </a:p>
        </p:txBody>
      </p:sp>
      <p:sp>
        <p:nvSpPr>
          <p:cNvPr id="6" name="Text 4"/>
          <p:cNvSpPr txBox="1"/>
          <p:nvPr/>
        </p:nvSpPr>
        <p:spPr>
          <a:xfrm>
            <a:off x="7863840" y="4846320"/>
            <a:ext cx="914400" cy="201168"/>
          </a:xfrm>
          <a:prstGeom prst="rect">
            <a:avLst/>
          </a:prstGeom>
          <a:noFill/>
          <a:ln/>
        </p:spPr>
        <p:txBody>
          <a:bodyPr wrap="square" lIns="0" tIns="0" rIns="0" bIns="0" rtlCol="0" anchor="t"/>
          <a:lstStyle/>
          <a:p>
            <a:pPr algn="r" indent="0" marL="0">
              <a:buNone/>
            </a:pPr>
            <a:r>
              <a:rPr lang="en-US" sz="850" dirty="0">
                <a:solidFill>
                  <a:srgbClr val="5B6B7B"/>
                </a:solidFill>
                <a:latin typeface="Calibri" pitchFamily="34" charset="0"/>
                <a:ea typeface="Calibri" pitchFamily="34" charset="-122"/>
                <a:cs typeface="Calibri" pitchFamily="34" charset="-120"/>
              </a:rPr>
              <a:t>4 / 9</a:t>
            </a:r>
            <a:endParaRPr lang="en-US" sz="850" dirty="0"/>
          </a:p>
        </p:txBody>
      </p:sp>
      <p:sp>
        <p:nvSpPr>
          <p:cNvPr id="8" name="Shape 5"/>
          <p:cNvSpPr/>
          <p:nvPr/>
        </p:nvSpPr>
        <p:spPr>
          <a:xfrm>
            <a:off x="365760" y="731520"/>
            <a:ext cx="1931670" cy="274320"/>
          </a:xfrm>
          <a:prstGeom prst="rect">
            <a:avLst/>
          </a:prstGeom>
          <a:solidFill>
            <a:srgbClr val="13324F"/>
          </a:solidFill>
          <a:ln w="12700">
            <a:solidFill>
              <a:srgbClr val="13324F"/>
            </a:solidFill>
            <a:prstDash val="solid"/>
          </a:ln>
        </p:spPr>
      </p:sp>
      <p:sp>
        <p:nvSpPr>
          <p:cNvPr id="9" name="Text 6"/>
          <p:cNvSpPr txBox="1"/>
          <p:nvPr/>
        </p:nvSpPr>
        <p:spPr>
          <a:xfrm>
            <a:off x="365760" y="731520"/>
            <a:ext cx="1931670" cy="27432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DATA</a:t>
            </a:r>
            <a:endParaRPr lang="en-US" sz="1000" dirty="0"/>
          </a:p>
        </p:txBody>
      </p:sp>
      <p:sp>
        <p:nvSpPr>
          <p:cNvPr id="10" name="Shape 7"/>
          <p:cNvSpPr/>
          <p:nvPr/>
        </p:nvSpPr>
        <p:spPr>
          <a:xfrm>
            <a:off x="2334006" y="2286000"/>
            <a:ext cx="155448" cy="182880"/>
          </a:xfrm>
          <a:prstGeom prst="rightArrow">
            <a:avLst/>
          </a:prstGeom>
          <a:solidFill>
            <a:srgbClr val="5B6B7B"/>
          </a:solidFill>
          <a:ln w="12700">
            <a:solidFill>
              <a:srgbClr val="5B6B7B"/>
            </a:solidFill>
            <a:prstDash val="solid"/>
          </a:ln>
        </p:spPr>
      </p:sp>
      <p:sp>
        <p:nvSpPr>
          <p:cNvPr id="11" name="Shape 8"/>
          <p:cNvSpPr/>
          <p:nvPr/>
        </p:nvSpPr>
        <p:spPr>
          <a:xfrm>
            <a:off x="365760" y="1097280"/>
            <a:ext cx="1931670" cy="868680"/>
          </a:xfrm>
          <a:prstGeom prst="roundRect">
            <a:avLst>
              <a:gd name="adj" fmla="val 5263"/>
            </a:avLst>
          </a:prstGeom>
          <a:solidFill>
            <a:srgbClr val="F5F7FA"/>
          </a:solidFill>
          <a:ln w="9525">
            <a:solidFill>
              <a:srgbClr val="D3DCE5"/>
            </a:solidFill>
            <a:prstDash val="solid"/>
          </a:ln>
        </p:spPr>
      </p:sp>
      <p:sp>
        <p:nvSpPr>
          <p:cNvPr id="12" name="Text 9"/>
          <p:cNvSpPr txBox="1"/>
          <p:nvPr/>
        </p:nvSpPr>
        <p:spPr>
          <a:xfrm>
            <a:off x="457200" y="1161288"/>
            <a:ext cx="1748790" cy="758952"/>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Simulator</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5 event types, top speed 110 km/h</a:t>
            </a:r>
            <a:endParaRPr lang="en-US" sz="1050" dirty="0"/>
          </a:p>
        </p:txBody>
      </p:sp>
      <p:sp>
        <p:nvSpPr>
          <p:cNvPr id="13" name="Shape 10"/>
          <p:cNvSpPr/>
          <p:nvPr/>
        </p:nvSpPr>
        <p:spPr>
          <a:xfrm>
            <a:off x="365760" y="2075688"/>
            <a:ext cx="1931670" cy="868680"/>
          </a:xfrm>
          <a:prstGeom prst="roundRect">
            <a:avLst>
              <a:gd name="adj" fmla="val 5263"/>
            </a:avLst>
          </a:prstGeom>
          <a:solidFill>
            <a:srgbClr val="F5F7FA"/>
          </a:solidFill>
          <a:ln w="9525">
            <a:solidFill>
              <a:srgbClr val="D3DCE5"/>
            </a:solidFill>
            <a:prstDash val="solid"/>
          </a:ln>
        </p:spPr>
      </p:sp>
      <p:sp>
        <p:nvSpPr>
          <p:cNvPr id="14" name="Text 11"/>
          <p:cNvSpPr txBox="1"/>
          <p:nvPr/>
        </p:nvSpPr>
        <p:spPr>
          <a:xfrm>
            <a:off x="457200" y="2139696"/>
            <a:ext cx="1748790" cy="758952"/>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SQLite DB</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Stations, routes, trains, journeys</a:t>
            </a:r>
            <a:endParaRPr lang="en-US" sz="1050" dirty="0"/>
          </a:p>
        </p:txBody>
      </p:sp>
      <p:sp>
        <p:nvSpPr>
          <p:cNvPr id="15" name="Shape 12"/>
          <p:cNvSpPr/>
          <p:nvPr/>
        </p:nvSpPr>
        <p:spPr>
          <a:xfrm>
            <a:off x="365760" y="3054096"/>
            <a:ext cx="1931670" cy="868680"/>
          </a:xfrm>
          <a:prstGeom prst="roundRect">
            <a:avLst>
              <a:gd name="adj" fmla="val 5263"/>
            </a:avLst>
          </a:prstGeom>
          <a:solidFill>
            <a:srgbClr val="FFFFFF"/>
          </a:solidFill>
          <a:ln w="12700">
            <a:solidFill>
              <a:srgbClr val="0FA3B1"/>
            </a:solidFill>
            <a:prstDash val="dash"/>
          </a:ln>
        </p:spPr>
      </p:sp>
      <p:sp>
        <p:nvSpPr>
          <p:cNvPr id="16" name="Text 13"/>
          <p:cNvSpPr txBox="1"/>
          <p:nvPr/>
        </p:nvSpPr>
        <p:spPr>
          <a:xfrm>
            <a:off x="457200" y="3118104"/>
            <a:ext cx="1748790" cy="758952"/>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RailRadar API</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Optional live feed, falls back to simulator</a:t>
            </a:r>
            <a:endParaRPr lang="en-US" sz="1050" dirty="0"/>
          </a:p>
        </p:txBody>
      </p:sp>
      <p:sp>
        <p:nvSpPr>
          <p:cNvPr id="17" name="Shape 14"/>
          <p:cNvSpPr/>
          <p:nvPr/>
        </p:nvSpPr>
        <p:spPr>
          <a:xfrm>
            <a:off x="2526030" y="731520"/>
            <a:ext cx="1931670" cy="274320"/>
          </a:xfrm>
          <a:prstGeom prst="rect">
            <a:avLst/>
          </a:prstGeom>
          <a:solidFill>
            <a:srgbClr val="13324F"/>
          </a:solidFill>
          <a:ln w="12700">
            <a:solidFill>
              <a:srgbClr val="13324F"/>
            </a:solidFill>
            <a:prstDash val="solid"/>
          </a:ln>
        </p:spPr>
      </p:sp>
      <p:sp>
        <p:nvSpPr>
          <p:cNvPr id="18" name="Text 15"/>
          <p:cNvSpPr txBox="1"/>
          <p:nvPr/>
        </p:nvSpPr>
        <p:spPr>
          <a:xfrm>
            <a:off x="2526030" y="731520"/>
            <a:ext cx="1931670" cy="27432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ENGINE</a:t>
            </a:r>
            <a:endParaRPr lang="en-US" sz="1000" dirty="0"/>
          </a:p>
        </p:txBody>
      </p:sp>
      <p:sp>
        <p:nvSpPr>
          <p:cNvPr id="19" name="Shape 16"/>
          <p:cNvSpPr/>
          <p:nvPr/>
        </p:nvSpPr>
        <p:spPr>
          <a:xfrm>
            <a:off x="4494276" y="2286000"/>
            <a:ext cx="155448" cy="182880"/>
          </a:xfrm>
          <a:prstGeom prst="rightArrow">
            <a:avLst/>
          </a:prstGeom>
          <a:solidFill>
            <a:srgbClr val="5B6B7B"/>
          </a:solidFill>
          <a:ln w="12700">
            <a:solidFill>
              <a:srgbClr val="5B6B7B"/>
            </a:solidFill>
            <a:prstDash val="solid"/>
          </a:ln>
        </p:spPr>
      </p:sp>
      <p:sp>
        <p:nvSpPr>
          <p:cNvPr id="20" name="Shape 17"/>
          <p:cNvSpPr/>
          <p:nvPr/>
        </p:nvSpPr>
        <p:spPr>
          <a:xfrm>
            <a:off x="2526030" y="1097280"/>
            <a:ext cx="1931670" cy="640080"/>
          </a:xfrm>
          <a:prstGeom prst="roundRect">
            <a:avLst>
              <a:gd name="adj" fmla="val 7143"/>
            </a:avLst>
          </a:prstGeom>
          <a:solidFill>
            <a:srgbClr val="F5F7FA"/>
          </a:solidFill>
          <a:ln w="9525">
            <a:solidFill>
              <a:srgbClr val="D3DCE5"/>
            </a:solidFill>
            <a:prstDash val="solid"/>
          </a:ln>
        </p:spPr>
      </p:sp>
      <p:sp>
        <p:nvSpPr>
          <p:cNvPr id="21" name="Text 18"/>
          <p:cNvSpPr txBox="1"/>
          <p:nvPr/>
        </p:nvSpPr>
        <p:spPr>
          <a:xfrm>
            <a:off x="2617470" y="1161288"/>
            <a:ext cx="1748790" cy="530352"/>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Feature builder</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11 inputs per checkpoint</a:t>
            </a:r>
            <a:endParaRPr lang="en-US" sz="1050" dirty="0"/>
          </a:p>
        </p:txBody>
      </p:sp>
      <p:sp>
        <p:nvSpPr>
          <p:cNvPr id="22" name="Shape 19"/>
          <p:cNvSpPr/>
          <p:nvPr/>
        </p:nvSpPr>
        <p:spPr>
          <a:xfrm>
            <a:off x="2526030" y="1828800"/>
            <a:ext cx="1931670" cy="640080"/>
          </a:xfrm>
          <a:prstGeom prst="roundRect">
            <a:avLst>
              <a:gd name="adj" fmla="val 7143"/>
            </a:avLst>
          </a:prstGeom>
          <a:solidFill>
            <a:srgbClr val="F5F7FA"/>
          </a:solidFill>
          <a:ln w="9525">
            <a:solidFill>
              <a:srgbClr val="D3DCE5"/>
            </a:solidFill>
            <a:prstDash val="solid"/>
          </a:ln>
        </p:spPr>
      </p:sp>
      <p:sp>
        <p:nvSpPr>
          <p:cNvPr id="23" name="Text 20"/>
          <p:cNvSpPr txBox="1"/>
          <p:nvPr/>
        </p:nvSpPr>
        <p:spPr>
          <a:xfrm>
            <a:off x="2617470" y="1892808"/>
            <a:ext cx="1748790" cy="530352"/>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Baseline ETA</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Schedule + delay − buffer</a:t>
            </a:r>
            <a:endParaRPr lang="en-US" sz="1050" dirty="0"/>
          </a:p>
        </p:txBody>
      </p:sp>
      <p:sp>
        <p:nvSpPr>
          <p:cNvPr id="24" name="Shape 21"/>
          <p:cNvSpPr/>
          <p:nvPr/>
        </p:nvSpPr>
        <p:spPr>
          <a:xfrm>
            <a:off x="2526030" y="2560320"/>
            <a:ext cx="1931670" cy="640080"/>
          </a:xfrm>
          <a:prstGeom prst="roundRect">
            <a:avLst>
              <a:gd name="adj" fmla="val 7143"/>
            </a:avLst>
          </a:prstGeom>
          <a:solidFill>
            <a:srgbClr val="F5F7FA"/>
          </a:solidFill>
          <a:ln w="9525">
            <a:solidFill>
              <a:srgbClr val="D3DCE5"/>
            </a:solidFill>
            <a:prstDash val="solid"/>
          </a:ln>
        </p:spPr>
      </p:sp>
      <p:sp>
        <p:nvSpPr>
          <p:cNvPr id="25" name="Text 22"/>
          <p:cNvSpPr txBox="1"/>
          <p:nvPr/>
        </p:nvSpPr>
        <p:spPr>
          <a:xfrm>
            <a:off x="2617470" y="2624328"/>
            <a:ext cx="1748790" cy="530352"/>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XGBoost model</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200 rounds, depth 6, lr 0.08</a:t>
            </a:r>
            <a:endParaRPr lang="en-US" sz="1050" dirty="0"/>
          </a:p>
        </p:txBody>
      </p:sp>
      <p:sp>
        <p:nvSpPr>
          <p:cNvPr id="26" name="Shape 23"/>
          <p:cNvSpPr/>
          <p:nvPr/>
        </p:nvSpPr>
        <p:spPr>
          <a:xfrm>
            <a:off x="2526030" y="3291840"/>
            <a:ext cx="1931670" cy="640080"/>
          </a:xfrm>
          <a:prstGeom prst="roundRect">
            <a:avLst>
              <a:gd name="adj" fmla="val 7143"/>
            </a:avLst>
          </a:prstGeom>
          <a:solidFill>
            <a:srgbClr val="F5F7FA"/>
          </a:solidFill>
          <a:ln w="9525">
            <a:solidFill>
              <a:srgbClr val="D3DCE5"/>
            </a:solidFill>
            <a:prstDash val="solid"/>
          </a:ln>
        </p:spPr>
      </p:sp>
      <p:sp>
        <p:nvSpPr>
          <p:cNvPr id="27" name="Text 24"/>
          <p:cNvSpPr txBox="1"/>
          <p:nvPr/>
        </p:nvSpPr>
        <p:spPr>
          <a:xfrm>
            <a:off x="2617470" y="3355848"/>
            <a:ext cx="1748790" cy="530352"/>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Station chaining</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Chains segments + range</a:t>
            </a:r>
            <a:endParaRPr lang="en-US" sz="1050" dirty="0"/>
          </a:p>
        </p:txBody>
      </p:sp>
      <p:sp>
        <p:nvSpPr>
          <p:cNvPr id="28" name="Shape 25"/>
          <p:cNvSpPr/>
          <p:nvPr/>
        </p:nvSpPr>
        <p:spPr>
          <a:xfrm>
            <a:off x="4686300" y="731520"/>
            <a:ext cx="1931670" cy="274320"/>
          </a:xfrm>
          <a:prstGeom prst="rect">
            <a:avLst/>
          </a:prstGeom>
          <a:solidFill>
            <a:srgbClr val="13324F"/>
          </a:solidFill>
          <a:ln w="12700">
            <a:solidFill>
              <a:srgbClr val="13324F"/>
            </a:solidFill>
            <a:prstDash val="solid"/>
          </a:ln>
        </p:spPr>
      </p:sp>
      <p:sp>
        <p:nvSpPr>
          <p:cNvPr id="29" name="Text 26"/>
          <p:cNvSpPr txBox="1"/>
          <p:nvPr/>
        </p:nvSpPr>
        <p:spPr>
          <a:xfrm>
            <a:off x="4686300" y="731520"/>
            <a:ext cx="1931670" cy="27432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API</a:t>
            </a:r>
            <a:endParaRPr lang="en-US" sz="1000" dirty="0"/>
          </a:p>
        </p:txBody>
      </p:sp>
      <p:sp>
        <p:nvSpPr>
          <p:cNvPr id="30" name="Shape 27"/>
          <p:cNvSpPr/>
          <p:nvPr/>
        </p:nvSpPr>
        <p:spPr>
          <a:xfrm>
            <a:off x="6654546" y="2286000"/>
            <a:ext cx="155448" cy="182880"/>
          </a:xfrm>
          <a:prstGeom prst="rightArrow">
            <a:avLst/>
          </a:prstGeom>
          <a:solidFill>
            <a:srgbClr val="5B6B7B"/>
          </a:solidFill>
          <a:ln w="12700">
            <a:solidFill>
              <a:srgbClr val="5B6B7B"/>
            </a:solidFill>
            <a:prstDash val="solid"/>
          </a:ln>
        </p:spPr>
      </p:sp>
      <p:sp>
        <p:nvSpPr>
          <p:cNvPr id="31" name="Shape 28"/>
          <p:cNvSpPr/>
          <p:nvPr/>
        </p:nvSpPr>
        <p:spPr>
          <a:xfrm>
            <a:off x="6846570" y="731520"/>
            <a:ext cx="1931670" cy="274320"/>
          </a:xfrm>
          <a:prstGeom prst="rect">
            <a:avLst/>
          </a:prstGeom>
          <a:solidFill>
            <a:srgbClr val="13324F"/>
          </a:solidFill>
          <a:ln w="12700">
            <a:solidFill>
              <a:srgbClr val="13324F"/>
            </a:solidFill>
            <a:prstDash val="solid"/>
          </a:ln>
        </p:spPr>
      </p:sp>
      <p:sp>
        <p:nvSpPr>
          <p:cNvPr id="32" name="Text 29"/>
          <p:cNvSpPr txBox="1"/>
          <p:nvPr/>
        </p:nvSpPr>
        <p:spPr>
          <a:xfrm>
            <a:off x="6846570" y="731520"/>
            <a:ext cx="1931670" cy="274320"/>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SCREENS</a:t>
            </a:r>
            <a:endParaRPr lang="en-US" sz="1000" dirty="0"/>
          </a:p>
        </p:txBody>
      </p:sp>
      <p:sp>
        <p:nvSpPr>
          <p:cNvPr id="33" name="Shape 30"/>
          <p:cNvSpPr/>
          <p:nvPr/>
        </p:nvSpPr>
        <p:spPr>
          <a:xfrm>
            <a:off x="6846570" y="1097280"/>
            <a:ext cx="1931670" cy="640080"/>
          </a:xfrm>
          <a:prstGeom prst="roundRect">
            <a:avLst>
              <a:gd name="adj" fmla="val 7143"/>
            </a:avLst>
          </a:prstGeom>
          <a:solidFill>
            <a:srgbClr val="F5F7FA"/>
          </a:solidFill>
          <a:ln w="9525">
            <a:solidFill>
              <a:srgbClr val="D3DCE5"/>
            </a:solidFill>
            <a:prstDash val="solid"/>
          </a:ln>
        </p:spPr>
      </p:sp>
      <p:sp>
        <p:nvSpPr>
          <p:cNvPr id="34" name="Text 31"/>
          <p:cNvSpPr txBox="1"/>
          <p:nvPr/>
        </p:nvSpPr>
        <p:spPr>
          <a:xfrm>
            <a:off x="6938010" y="1161288"/>
            <a:ext cx="1748790" cy="530352"/>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Control Room</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Fleet, events, trains</a:t>
            </a:r>
            <a:endParaRPr lang="en-US" sz="1050" dirty="0"/>
          </a:p>
        </p:txBody>
      </p:sp>
      <p:sp>
        <p:nvSpPr>
          <p:cNvPr id="35" name="Shape 32"/>
          <p:cNvSpPr/>
          <p:nvPr/>
        </p:nvSpPr>
        <p:spPr>
          <a:xfrm>
            <a:off x="6846570" y="1828800"/>
            <a:ext cx="1931670" cy="640080"/>
          </a:xfrm>
          <a:prstGeom prst="roundRect">
            <a:avLst>
              <a:gd name="adj" fmla="val 7143"/>
            </a:avLst>
          </a:prstGeom>
          <a:solidFill>
            <a:srgbClr val="F5F7FA"/>
          </a:solidFill>
          <a:ln w="9525">
            <a:solidFill>
              <a:srgbClr val="D3DCE5"/>
            </a:solidFill>
            <a:prstDash val="solid"/>
          </a:ln>
        </p:spPr>
      </p:sp>
      <p:sp>
        <p:nvSpPr>
          <p:cNvPr id="36" name="Text 33"/>
          <p:cNvSpPr txBox="1"/>
          <p:nvPr/>
        </p:nvSpPr>
        <p:spPr>
          <a:xfrm>
            <a:off x="6938010" y="1892808"/>
            <a:ext cx="1748790" cy="530352"/>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Model evaluation</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MAE/RMSE vs baseline</a:t>
            </a:r>
            <a:endParaRPr lang="en-US" sz="1050" dirty="0"/>
          </a:p>
        </p:txBody>
      </p:sp>
      <p:sp>
        <p:nvSpPr>
          <p:cNvPr id="37" name="Shape 34"/>
          <p:cNvSpPr/>
          <p:nvPr/>
        </p:nvSpPr>
        <p:spPr>
          <a:xfrm>
            <a:off x="6846570" y="2560320"/>
            <a:ext cx="1931670" cy="640080"/>
          </a:xfrm>
          <a:prstGeom prst="roundRect">
            <a:avLst>
              <a:gd name="adj" fmla="val 7143"/>
            </a:avLst>
          </a:prstGeom>
          <a:solidFill>
            <a:srgbClr val="F5F7FA"/>
          </a:solidFill>
          <a:ln w="9525">
            <a:solidFill>
              <a:srgbClr val="D3DCE5"/>
            </a:solidFill>
            <a:prstDash val="solid"/>
          </a:ln>
        </p:spPr>
      </p:sp>
      <p:sp>
        <p:nvSpPr>
          <p:cNvPr id="38" name="Text 35"/>
          <p:cNvSpPr txBox="1"/>
          <p:nvPr/>
        </p:nvSpPr>
        <p:spPr>
          <a:xfrm>
            <a:off x="6938010" y="2624328"/>
            <a:ext cx="1748790" cy="530352"/>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Passenger</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ETA at any station</a:t>
            </a:r>
            <a:endParaRPr lang="en-US" sz="1050" dirty="0"/>
          </a:p>
        </p:txBody>
      </p:sp>
      <p:sp>
        <p:nvSpPr>
          <p:cNvPr id="39" name="Shape 36"/>
          <p:cNvSpPr/>
          <p:nvPr/>
        </p:nvSpPr>
        <p:spPr>
          <a:xfrm>
            <a:off x="6846570" y="3291840"/>
            <a:ext cx="1931670" cy="640080"/>
          </a:xfrm>
          <a:prstGeom prst="roundRect">
            <a:avLst>
              <a:gd name="adj" fmla="val 7143"/>
            </a:avLst>
          </a:prstGeom>
          <a:solidFill>
            <a:srgbClr val="F5F7FA"/>
          </a:solidFill>
          <a:ln w="9525">
            <a:solidFill>
              <a:srgbClr val="D3DCE5"/>
            </a:solidFill>
            <a:prstDash val="solid"/>
          </a:ln>
        </p:spPr>
      </p:sp>
      <p:sp>
        <p:nvSpPr>
          <p:cNvPr id="40" name="Text 37"/>
          <p:cNvSpPr txBox="1"/>
          <p:nvPr/>
        </p:nvSpPr>
        <p:spPr>
          <a:xfrm>
            <a:off x="6938010" y="3355848"/>
            <a:ext cx="1748790" cy="530352"/>
          </a:xfrm>
          <a:prstGeom prst="rect">
            <a:avLst/>
          </a:prstGeom>
          <a:noFill/>
          <a:ln/>
        </p:spPr>
        <p:txBody>
          <a:bodyPr wrap="square" lIns="0" tIns="0" rIns="0" bIns="0" rtlCol="0" anchor="t"/>
          <a:lstStyle/>
          <a:p>
            <a:pPr indent="0" marL="0">
              <a:spcAft>
                <a:spcPts val="200"/>
              </a:spcAft>
              <a:buNone/>
            </a:pPr>
            <a:r>
              <a:rPr lang="en-US" sz="1050" b="1" dirty="0">
                <a:solidFill>
                  <a:srgbClr val="1B2B3A"/>
                </a:solidFill>
                <a:latin typeface="Calibri" pitchFamily="34" charset="0"/>
                <a:ea typeface="Calibri" pitchFamily="34" charset="-122"/>
                <a:cs typeface="Calibri" pitchFamily="34" charset="-120"/>
              </a:rPr>
              <a:t>Station board</a:t>
            </a:r>
            <a:endParaRPr lang="en-US" sz="1050" dirty="0"/>
          </a:p>
          <a:p>
            <a:pPr indent="0" marL="0">
              <a:spcAft>
                <a:spcPts val="200"/>
              </a:spcAft>
              <a:buNone/>
            </a:pPr>
            <a:r>
              <a:rPr lang="en-US" sz="900" dirty="0">
                <a:solidFill>
                  <a:srgbClr val="5B6B7B"/>
                </a:solidFill>
                <a:latin typeface="Calibri" pitchFamily="34" charset="0"/>
                <a:ea typeface="Calibri" pitchFamily="34" charset="-122"/>
                <a:cs typeface="Calibri" pitchFamily="34" charset="-120"/>
              </a:rPr>
              <a:t>Arrivals by ML ETA</a:t>
            </a:r>
            <a:endParaRPr lang="en-US" sz="1050" dirty="0"/>
          </a:p>
        </p:txBody>
      </p:sp>
      <p:sp>
        <p:nvSpPr>
          <p:cNvPr id="41" name="Shape 38"/>
          <p:cNvSpPr/>
          <p:nvPr/>
        </p:nvSpPr>
        <p:spPr>
          <a:xfrm>
            <a:off x="4686300" y="1097280"/>
            <a:ext cx="1931670" cy="2825496"/>
          </a:xfrm>
          <a:prstGeom prst="roundRect">
            <a:avLst>
              <a:gd name="adj" fmla="val 2367"/>
            </a:avLst>
          </a:prstGeom>
          <a:solidFill>
            <a:srgbClr val="0B1F33"/>
          </a:solidFill>
          <a:ln w="12700">
            <a:solidFill>
              <a:srgbClr val="0B1F33"/>
            </a:solidFill>
            <a:prstDash val="solid"/>
          </a:ln>
        </p:spPr>
      </p:sp>
      <p:sp>
        <p:nvSpPr>
          <p:cNvPr id="42" name="Text 39"/>
          <p:cNvSpPr txBox="1"/>
          <p:nvPr/>
        </p:nvSpPr>
        <p:spPr>
          <a:xfrm>
            <a:off x="4805172" y="1207008"/>
            <a:ext cx="1693926" cy="868680"/>
          </a:xfrm>
          <a:prstGeom prst="rect">
            <a:avLst/>
          </a:prstGeom>
          <a:noFill/>
          <a:ln/>
        </p:spPr>
        <p:txBody>
          <a:bodyPr wrap="square" lIns="0" tIns="0" rIns="0" bIns="0" rtlCol="0" anchor="t"/>
          <a:lstStyle/>
          <a:p>
            <a:pPr indent="0" marL="0">
              <a:spcAft>
                <a:spcPts val="400"/>
              </a:spcAft>
              <a:buNone/>
            </a:pPr>
            <a:r>
              <a:rPr lang="en-US" sz="1400" b="1" dirty="0">
                <a:solidFill>
                  <a:srgbClr val="FFFFFF"/>
                </a:solidFill>
                <a:latin typeface="Calibri" pitchFamily="34" charset="0"/>
                <a:ea typeface="Calibri" pitchFamily="34" charset="-122"/>
                <a:cs typeface="Calibri" pitchFamily="34" charset="-120"/>
              </a:rPr>
              <a:t>FastAPI</a:t>
            </a:r>
            <a:endParaRPr lang="en-US" sz="1400" dirty="0"/>
          </a:p>
          <a:p>
            <a:pPr indent="0" marL="0">
              <a:spcAft>
                <a:spcPts val="400"/>
              </a:spcAft>
              <a:buNone/>
            </a:pPr>
            <a:r>
              <a:rPr lang="en-US" sz="950" dirty="0">
                <a:solidFill>
                  <a:srgbClr val="B9C7D6"/>
                </a:solidFill>
                <a:latin typeface="Calibri" pitchFamily="34" charset="0"/>
                <a:ea typeface="Calibri" pitchFamily="34" charset="-122"/>
                <a:cs typeface="Calibri" pitchFamily="34" charset="-120"/>
              </a:rPr>
              <a:t>Typed REST API (Pydantic), 12 endpoints, 60 s live cache</a:t>
            </a:r>
            <a:endParaRPr lang="en-US" sz="1400" dirty="0"/>
          </a:p>
        </p:txBody>
      </p:sp>
      <p:sp>
        <p:nvSpPr>
          <p:cNvPr id="43" name="Text 40"/>
          <p:cNvSpPr txBox="1"/>
          <p:nvPr/>
        </p:nvSpPr>
        <p:spPr>
          <a:xfrm>
            <a:off x="4805172" y="2212848"/>
            <a:ext cx="1693926" cy="1600200"/>
          </a:xfrm>
          <a:prstGeom prst="rect">
            <a:avLst/>
          </a:prstGeom>
          <a:noFill/>
          <a:ln/>
        </p:spPr>
        <p:txBody>
          <a:bodyPr wrap="square" lIns="0" tIns="0" rIns="0" bIns="0" rtlCol="0" anchor="t"/>
          <a:lstStyle/>
          <a:p>
            <a:pPr indent="0" marL="0">
              <a:spcAft>
                <a:spcPts val="600"/>
              </a:spcAft>
              <a:buNone/>
            </a:pPr>
            <a:r>
              <a:rPr lang="en-US" sz="850" dirty="0">
                <a:solidFill>
                  <a:srgbClr val="7FD6DE"/>
                </a:solidFill>
                <a:latin typeface="Courier New" pitchFamily="34" charset="0"/>
                <a:ea typeface="Courier New" pitchFamily="34" charset="-122"/>
                <a:cs typeface="Courier New" pitchFamily="34" charset="-120"/>
              </a:rPr>
              <a:t>/trains</a:t>
            </a:r>
            <a:endParaRPr lang="en-US" sz="850" dirty="0"/>
          </a:p>
          <a:p>
            <a:pPr indent="0" marL="0">
              <a:spcAft>
                <a:spcPts val="600"/>
              </a:spcAft>
              <a:buNone/>
            </a:pPr>
            <a:r>
              <a:rPr lang="en-US" sz="850" dirty="0">
                <a:solidFill>
                  <a:srgbClr val="7FD6DE"/>
                </a:solidFill>
                <a:latin typeface="Courier New" pitchFamily="34" charset="0"/>
                <a:ea typeface="Courier New" pitchFamily="34" charset="-122"/>
                <a:cs typeface="Courier New" pitchFamily="34" charset="-120"/>
              </a:rPr>
              <a:t>/train/{id}</a:t>
            </a:r>
            <a:endParaRPr lang="en-US" sz="850" dirty="0"/>
          </a:p>
          <a:p>
            <a:pPr indent="0" marL="0">
              <a:spcAft>
                <a:spcPts val="600"/>
              </a:spcAft>
              <a:buNone/>
            </a:pPr>
            <a:r>
              <a:rPr lang="en-US" sz="850" dirty="0">
                <a:solidFill>
                  <a:srgbClr val="7FD6DE"/>
                </a:solidFill>
                <a:latin typeface="Courier New" pitchFamily="34" charset="0"/>
                <a:ea typeface="Courier New" pitchFamily="34" charset="-122"/>
                <a:cs typeface="Courier New" pitchFamily="34" charset="-120"/>
              </a:rPr>
              <a:t>/train/{id}/eta/{code}</a:t>
            </a:r>
            <a:endParaRPr lang="en-US" sz="850" dirty="0"/>
          </a:p>
          <a:p>
            <a:pPr indent="0" marL="0">
              <a:spcAft>
                <a:spcPts val="600"/>
              </a:spcAft>
              <a:buNone/>
            </a:pPr>
            <a:r>
              <a:rPr lang="en-US" sz="850" dirty="0">
                <a:solidFill>
                  <a:srgbClr val="7FD6DE"/>
                </a:solidFill>
                <a:latin typeface="Courier New" pitchFamily="34" charset="0"/>
                <a:ea typeface="Courier New" pitchFamily="34" charset="-122"/>
                <a:cs typeface="Courier New" pitchFamily="34" charset="-120"/>
              </a:rPr>
              <a:t>/station/{code}/arrivals</a:t>
            </a:r>
            <a:endParaRPr lang="en-US" sz="850" dirty="0"/>
          </a:p>
          <a:p>
            <a:pPr indent="0" marL="0">
              <a:spcAft>
                <a:spcPts val="600"/>
              </a:spcAft>
              <a:buNone/>
            </a:pPr>
            <a:r>
              <a:rPr lang="en-US" sz="850" dirty="0">
                <a:solidFill>
                  <a:srgbClr val="7FD6DE"/>
                </a:solidFill>
                <a:latin typeface="Courier New" pitchFamily="34" charset="0"/>
                <a:ea typeface="Courier New" pitchFamily="34" charset="-122"/>
                <a:cs typeface="Courier New" pitchFamily="34" charset="-120"/>
              </a:rPr>
              <a:t>POST /simulate/event</a:t>
            </a:r>
            <a:endParaRPr lang="en-US" sz="850" dirty="0"/>
          </a:p>
          <a:p>
            <a:pPr indent="0" marL="0">
              <a:spcAft>
                <a:spcPts val="600"/>
              </a:spcAft>
              <a:buNone/>
            </a:pPr>
            <a:r>
              <a:rPr lang="en-US" sz="850" dirty="0">
                <a:solidFill>
                  <a:srgbClr val="7FD6DE"/>
                </a:solidFill>
                <a:latin typeface="Courier New" pitchFamily="34" charset="0"/>
                <a:ea typeface="Courier New" pitchFamily="34" charset="-122"/>
                <a:cs typeface="Courier New" pitchFamily="34" charset="-120"/>
              </a:rPr>
              <a:t>/model/metrics</a:t>
            </a:r>
            <a:endParaRPr lang="en-US" sz="850" dirty="0"/>
          </a:p>
        </p:txBody>
      </p:sp>
      <p:sp>
        <p:nvSpPr>
          <p:cNvPr id="44" name="Shape 41"/>
          <p:cNvSpPr/>
          <p:nvPr/>
        </p:nvSpPr>
        <p:spPr>
          <a:xfrm>
            <a:off x="365760" y="4114800"/>
            <a:ext cx="8412480" cy="621792"/>
          </a:xfrm>
          <a:prstGeom prst="roundRect">
            <a:avLst>
              <a:gd name="adj" fmla="val 7353"/>
            </a:avLst>
          </a:prstGeom>
          <a:solidFill>
            <a:srgbClr val="FFF6E8"/>
          </a:solidFill>
          <a:ln w="9525">
            <a:solidFill>
              <a:srgbClr val="F2A541"/>
            </a:solidFill>
            <a:prstDash val="solid"/>
          </a:ln>
        </p:spPr>
      </p:sp>
      <p:sp>
        <p:nvSpPr>
          <p:cNvPr id="45" name="Text 42"/>
          <p:cNvSpPr txBox="1"/>
          <p:nvPr/>
        </p:nvSpPr>
        <p:spPr>
          <a:xfrm>
            <a:off x="502920" y="4142232"/>
            <a:ext cx="8138160" cy="566928"/>
          </a:xfrm>
          <a:prstGeom prst="rect">
            <a:avLst/>
          </a:prstGeom>
          <a:noFill/>
          <a:ln/>
        </p:spPr>
        <p:txBody>
          <a:bodyPr wrap="square" lIns="0" tIns="0" rIns="0" bIns="0" rtlCol="0" anchor="ctr"/>
          <a:lstStyle/>
          <a:p>
            <a:pPr indent="0" marL="0">
              <a:buNone/>
            </a:pPr>
            <a:r>
              <a:rPr lang="en-US" sz="950" b="1" dirty="0">
                <a:solidFill>
                  <a:srgbClr val="1B2B3A"/>
                </a:solidFill>
                <a:latin typeface="Calibri" pitchFamily="34" charset="0"/>
                <a:ea typeface="Calibri" pitchFamily="34" charset="-122"/>
                <a:cs typeface="Calibri" pitchFamily="34" charset="-120"/>
              </a:rPr>
              <a:t>How to read it: </a:t>
            </a:r>
            <a:pPr indent="0" marL="0">
              <a:buNone/>
            </a:pPr>
            <a:r>
              <a:rPr lang="en-US" sz="950" dirty="0">
                <a:solidFill>
                  <a:srgbClr val="1B2B3A"/>
                </a:solidFill>
                <a:latin typeface="Calibri" pitchFamily="34" charset="0"/>
                <a:ea typeface="Calibri" pitchFamily="34" charset="-122"/>
                <a:cs typeface="Calibri" pitchFamily="34" charset="-120"/>
              </a:rPr>
              <a:t>the simulator is the default source; the optional RailRadar live API is used when a key is set and falls back to the simulator on errors or rate limits. The engine builds features and produces a baseline and an XGBoost ETA; FastAPI serves them to four screens.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B1F33"/>
          </a:solidFill>
          <a:ln w="12700">
            <a:solidFill>
              <a:srgbClr val="0B1F33"/>
            </a:solidFill>
            <a:prstDash val="solid"/>
          </a:ln>
        </p:spPr>
      </p:sp>
      <p:sp>
        <p:nvSpPr>
          <p:cNvPr id="3" name="Shape 1"/>
          <p:cNvSpPr/>
          <p:nvPr/>
        </p:nvSpPr>
        <p:spPr>
          <a:xfrm>
            <a:off x="365760" y="173736"/>
            <a:ext cx="91440" cy="219456"/>
          </a:xfrm>
          <a:prstGeom prst="rect">
            <a:avLst/>
          </a:prstGeom>
          <a:solidFill>
            <a:srgbClr val="F2A541"/>
          </a:solidFill>
          <a:ln w="12700">
            <a:solidFill>
              <a:srgbClr val="F2A541"/>
            </a:solidFill>
            <a:prstDash val="solid"/>
          </a:ln>
        </p:spPr>
      </p:sp>
      <p:sp>
        <p:nvSpPr>
          <p:cNvPr id="4" name="Text 2"/>
          <p:cNvSpPr txBox="1"/>
          <p:nvPr/>
        </p:nvSpPr>
        <p:spPr>
          <a:xfrm>
            <a:off x="594360" y="82296"/>
            <a:ext cx="7863840" cy="402336"/>
          </a:xfrm>
          <a:prstGeom prst="rect">
            <a:avLst/>
          </a:prstGeom>
          <a:noFill/>
          <a:ln/>
        </p:spPr>
        <p:txBody>
          <a:bodyPr wrap="square" lIns="0" tIns="0" rIns="0" bIns="0" rtlCol="0" anchor="ctr"/>
          <a:lstStyle/>
          <a:p>
            <a:pPr indent="0" marL="0">
              <a:buNone/>
            </a:pPr>
            <a:r>
              <a:rPr lang="en-US" sz="1600" b="1" spc="100" kern="0" dirty="0">
                <a:solidFill>
                  <a:srgbClr val="FFFFFF"/>
                </a:solidFill>
                <a:latin typeface="Calibri" pitchFamily="34" charset="0"/>
                <a:ea typeface="Calibri" pitchFamily="34" charset="-122"/>
                <a:cs typeface="Calibri" pitchFamily="34" charset="-120"/>
              </a:rPr>
              <a:t>DATA &amp; MACHINE LEARNING APPROACH</a:t>
            </a:r>
            <a:endParaRPr lang="en-US" sz="1600" dirty="0"/>
          </a:p>
        </p:txBody>
      </p:sp>
      <p:sp>
        <p:nvSpPr>
          <p:cNvPr id="5" name="Text 3"/>
          <p:cNvSpPr txBox="1"/>
          <p:nvPr/>
        </p:nvSpPr>
        <p:spPr>
          <a:xfrm>
            <a:off x="365760" y="4846320"/>
            <a:ext cx="5486400" cy="201168"/>
          </a:xfrm>
          <a:prstGeom prst="rect">
            <a:avLst/>
          </a:prstGeom>
          <a:noFill/>
          <a:ln/>
        </p:spPr>
        <p:txBody>
          <a:bodyPr wrap="square" lIns="0" tIns="0" rIns="0" bIns="0" rtlCol="0" anchor="t"/>
          <a:lstStyle/>
          <a:p>
            <a:pPr indent="0" marL="0">
              <a:buNone/>
            </a:pPr>
            <a:r>
              <a:rPr lang="en-US" sz="850" dirty="0">
                <a:solidFill>
                  <a:srgbClr val="5B6B7B"/>
                </a:solidFill>
                <a:latin typeface="Calibri" pitchFamily="34" charset="0"/>
                <a:ea typeface="Calibri" pitchFamily="34" charset="-122"/>
                <a:cs typeface="Calibri" pitchFamily="34" charset="-120"/>
              </a:rPr>
              <a:t>Dynamic ETA Forecasting Engine  |  Alva’s Institute of Engineering &amp; Technology</a:t>
            </a:r>
            <a:endParaRPr lang="en-US" sz="850" dirty="0"/>
          </a:p>
        </p:txBody>
      </p:sp>
      <p:sp>
        <p:nvSpPr>
          <p:cNvPr id="6" name="Text 4"/>
          <p:cNvSpPr txBox="1"/>
          <p:nvPr/>
        </p:nvSpPr>
        <p:spPr>
          <a:xfrm>
            <a:off x="7863840" y="4846320"/>
            <a:ext cx="914400" cy="201168"/>
          </a:xfrm>
          <a:prstGeom prst="rect">
            <a:avLst/>
          </a:prstGeom>
          <a:noFill/>
          <a:ln/>
        </p:spPr>
        <p:txBody>
          <a:bodyPr wrap="square" lIns="0" tIns="0" rIns="0" bIns="0" rtlCol="0" anchor="t"/>
          <a:lstStyle/>
          <a:p>
            <a:pPr algn="r" indent="0" marL="0">
              <a:buNone/>
            </a:pPr>
            <a:r>
              <a:rPr lang="en-US" sz="850" dirty="0">
                <a:solidFill>
                  <a:srgbClr val="5B6B7B"/>
                </a:solidFill>
                <a:latin typeface="Calibri" pitchFamily="34" charset="0"/>
                <a:ea typeface="Calibri" pitchFamily="34" charset="-122"/>
                <a:cs typeface="Calibri" pitchFamily="34" charset="-120"/>
              </a:rPr>
              <a:t>5 / 9</a:t>
            </a:r>
            <a:endParaRPr lang="en-US" sz="850" dirty="0"/>
          </a:p>
        </p:txBody>
      </p:sp>
      <p:sp>
        <p:nvSpPr>
          <p:cNvPr id="8" name="Shape 5"/>
          <p:cNvSpPr/>
          <p:nvPr/>
        </p:nvSpPr>
        <p:spPr>
          <a:xfrm>
            <a:off x="365760" y="731520"/>
            <a:ext cx="4206240" cy="1298448"/>
          </a:xfrm>
          <a:prstGeom prst="roundRect">
            <a:avLst>
              <a:gd name="adj" fmla="val 3521"/>
            </a:avLst>
          </a:prstGeom>
          <a:solidFill>
            <a:srgbClr val="FFFFFF"/>
          </a:solidFill>
          <a:ln w="9525">
            <a:solidFill>
              <a:srgbClr val="D3DCE5"/>
            </a:solidFill>
            <a:prstDash val="solid"/>
          </a:ln>
        </p:spPr>
      </p:sp>
      <p:sp>
        <p:nvSpPr>
          <p:cNvPr id="9" name="Text 6"/>
          <p:cNvSpPr txBox="1"/>
          <p:nvPr/>
        </p:nvSpPr>
        <p:spPr>
          <a:xfrm>
            <a:off x="502920" y="822960"/>
            <a:ext cx="3977640" cy="1170432"/>
          </a:xfrm>
          <a:prstGeom prst="rect">
            <a:avLst/>
          </a:prstGeom>
          <a:noFill/>
          <a:ln/>
        </p:spPr>
        <p:txBody>
          <a:bodyPr wrap="square" lIns="0" tIns="0" rIns="0" bIns="0" rtlCol="0" anchor="t"/>
          <a:lstStyle/>
          <a:p>
            <a:pPr indent="0" marL="0">
              <a:spcAft>
                <a:spcPts val="300"/>
              </a:spcAft>
              <a:buNone/>
            </a:pPr>
            <a:r>
              <a:rPr lang="en-US" sz="950" b="1" spc="100" kern="0" dirty="0">
                <a:solidFill>
                  <a:srgbClr val="0FA3B1"/>
                </a:solidFill>
                <a:latin typeface="Calibri" pitchFamily="34" charset="0"/>
                <a:ea typeface="Calibri" pitchFamily="34" charset="-122"/>
                <a:cs typeface="Calibri" pitchFamily="34" charset="-120"/>
              </a:rPr>
              <a:t>SYNTHETIC DATASET (no real logs yet)</a:t>
            </a:r>
            <a:endParaRPr lang="en-US" sz="950" dirty="0"/>
          </a:p>
          <a:p>
            <a:pPr marL="152400" indent="-152400">
              <a:spcAft>
                <a:spcPts val="300"/>
              </a:spcAft>
              <a:buSzPct val="100000"/>
              <a:buChar char="•"/>
            </a:pPr>
            <a:r>
              <a:rPr lang="en-US" sz="1000" dirty="0">
                <a:solidFill>
                  <a:srgbClr val="1B2B3A"/>
                </a:solidFill>
                <a:latin typeface="Calibri" pitchFamily="34" charset="0"/>
                <a:ea typeface="Calibri" pitchFamily="34" charset="-122"/>
                <a:cs typeface="Calibri" pitchFamily="34" charset="-120"/>
              </a:rPr>
              <a:t>8 express trains on 3 corridors (1,447, 1,386 and 359 km)</a:t>
            </a:r>
            <a:endParaRPr lang="en-US" sz="950" dirty="0"/>
          </a:p>
          <a:p>
            <a:pPr marL="152400" indent="-152400">
              <a:spcAft>
                <a:spcPts val="300"/>
              </a:spcAft>
              <a:buSzPct val="100000"/>
              <a:buChar char="•"/>
            </a:pPr>
            <a:r>
              <a:rPr lang="en-US" sz="1000" dirty="0">
                <a:solidFill>
                  <a:srgbClr val="1B2B3A"/>
                </a:solidFill>
                <a:latin typeface="Calibri" pitchFamily="34" charset="0"/>
                <a:ea typeface="Calibri" pitchFamily="34" charset="-122"/>
                <a:cs typeface="Calibri" pitchFamily="34" charset="-120"/>
              </a:rPr>
              <a:t>200 journeys and 6,125 checkpoint samples</a:t>
            </a:r>
            <a:endParaRPr lang="en-US" sz="950" dirty="0"/>
          </a:p>
          <a:p>
            <a:pPr marL="152400" indent="-152400">
              <a:spcAft>
                <a:spcPts val="300"/>
              </a:spcAft>
              <a:buSzPct val="100000"/>
              <a:buChar char="•"/>
            </a:pPr>
            <a:r>
              <a:rPr lang="en-US" sz="1000" dirty="0">
                <a:solidFill>
                  <a:srgbClr val="1B2B3A"/>
                </a:solidFill>
                <a:latin typeface="Calibri" pitchFamily="34" charset="0"/>
                <a:ea typeface="Calibri" pitchFamily="34" charset="-122"/>
                <a:cs typeface="Calibri" pitchFamily="34" charset="-120"/>
              </a:rPr>
              <a:t>5 disruption types affecting about 30% of samples</a:t>
            </a:r>
            <a:endParaRPr lang="en-US" sz="950" dirty="0"/>
          </a:p>
          <a:p>
            <a:pPr marL="152400" indent="-152400">
              <a:spcAft>
                <a:spcPts val="300"/>
              </a:spcAft>
              <a:buSzPct val="100000"/>
              <a:buChar char="•"/>
            </a:pPr>
            <a:r>
              <a:rPr lang="en-US" sz="1000" dirty="0">
                <a:solidFill>
                  <a:srgbClr val="1B2B3A"/>
                </a:solidFill>
                <a:latin typeface="Calibri" pitchFamily="34" charset="0"/>
                <a:ea typeface="Calibri" pitchFamily="34" charset="-122"/>
                <a:cs typeface="Calibri" pitchFamily="34" charset="-120"/>
              </a:rPr>
              <a:t>2-min simulation tick, 110 km/h max speed</a:t>
            </a:r>
            <a:endParaRPr lang="en-US" sz="950" dirty="0"/>
          </a:p>
        </p:txBody>
      </p:sp>
      <p:sp>
        <p:nvSpPr>
          <p:cNvPr id="10" name="Shape 7"/>
          <p:cNvSpPr/>
          <p:nvPr/>
        </p:nvSpPr>
        <p:spPr>
          <a:xfrm>
            <a:off x="365760" y="2121408"/>
            <a:ext cx="4206240" cy="868680"/>
          </a:xfrm>
          <a:prstGeom prst="roundRect">
            <a:avLst>
              <a:gd name="adj" fmla="val 5263"/>
            </a:avLst>
          </a:prstGeom>
          <a:solidFill>
            <a:srgbClr val="FFFFFF"/>
          </a:solidFill>
          <a:ln w="9525">
            <a:solidFill>
              <a:srgbClr val="D3DCE5"/>
            </a:solidFill>
            <a:prstDash val="solid"/>
          </a:ln>
        </p:spPr>
      </p:sp>
      <p:sp>
        <p:nvSpPr>
          <p:cNvPr id="11" name="Text 8"/>
          <p:cNvSpPr txBox="1"/>
          <p:nvPr/>
        </p:nvSpPr>
        <p:spPr>
          <a:xfrm>
            <a:off x="502920" y="2212848"/>
            <a:ext cx="3977640" cy="731520"/>
          </a:xfrm>
          <a:prstGeom prst="rect">
            <a:avLst/>
          </a:prstGeom>
          <a:noFill/>
          <a:ln/>
        </p:spPr>
        <p:txBody>
          <a:bodyPr wrap="square" lIns="0" tIns="0" rIns="0" bIns="0" rtlCol="0" anchor="t"/>
          <a:lstStyle/>
          <a:p>
            <a:pPr indent="0" marL="0">
              <a:spcAft>
                <a:spcPts val="400"/>
              </a:spcAft>
              <a:buNone/>
            </a:pPr>
            <a:r>
              <a:rPr lang="en-US" sz="950" b="1" spc="100" kern="0" dirty="0">
                <a:solidFill>
                  <a:srgbClr val="0FA3B1"/>
                </a:solidFill>
                <a:latin typeface="Calibri" pitchFamily="34" charset="0"/>
                <a:ea typeface="Calibri" pitchFamily="34" charset="-122"/>
                <a:cs typeface="Calibri" pitchFamily="34" charset="-120"/>
              </a:rPr>
              <a:t>11 MODEL INPUTS PER CHECKPOINT</a:t>
            </a:r>
            <a:endParaRPr lang="en-US" sz="950" dirty="0"/>
          </a:p>
          <a:p>
            <a:pPr indent="0" marL="0">
              <a:spcAft>
                <a:spcPts val="400"/>
              </a:spcAft>
              <a:buNone/>
            </a:pPr>
            <a:r>
              <a:rPr lang="en-US" sz="1000" dirty="0">
                <a:solidFill>
                  <a:srgbClr val="1B2B3A"/>
                </a:solidFill>
                <a:latin typeface="Calibri" pitchFamily="34" charset="0"/>
                <a:ea typeface="Calibri" pitchFamily="34" charset="-122"/>
                <a:cs typeface="Calibri" pitchFamily="34" charset="-120"/>
              </a:rPr>
              <a:t>Distance, scheduled time, halts, delay, delay trend, restriction, congestion, weather and day type.</a:t>
            </a:r>
            <a:endParaRPr lang="en-US" sz="950" dirty="0"/>
          </a:p>
        </p:txBody>
      </p:sp>
      <p:sp>
        <p:nvSpPr>
          <p:cNvPr id="12" name="Shape 9"/>
          <p:cNvSpPr/>
          <p:nvPr/>
        </p:nvSpPr>
        <p:spPr>
          <a:xfrm>
            <a:off x="365760" y="3081528"/>
            <a:ext cx="4206240" cy="914400"/>
          </a:xfrm>
          <a:prstGeom prst="roundRect">
            <a:avLst>
              <a:gd name="adj" fmla="val 5000"/>
            </a:avLst>
          </a:prstGeom>
          <a:solidFill>
            <a:srgbClr val="FFFFFF"/>
          </a:solidFill>
          <a:ln w="9525">
            <a:solidFill>
              <a:srgbClr val="D3DCE5"/>
            </a:solidFill>
            <a:prstDash val="solid"/>
          </a:ln>
        </p:spPr>
      </p:sp>
      <p:sp>
        <p:nvSpPr>
          <p:cNvPr id="13" name="Text 10"/>
          <p:cNvSpPr txBox="1"/>
          <p:nvPr/>
        </p:nvSpPr>
        <p:spPr>
          <a:xfrm>
            <a:off x="502920" y="3172968"/>
            <a:ext cx="3977640" cy="777240"/>
          </a:xfrm>
          <a:prstGeom prst="rect">
            <a:avLst/>
          </a:prstGeom>
          <a:noFill/>
          <a:ln/>
        </p:spPr>
        <p:txBody>
          <a:bodyPr wrap="square" lIns="0" tIns="0" rIns="0" bIns="0" rtlCol="0" anchor="t"/>
          <a:lstStyle/>
          <a:p>
            <a:pPr indent="0" marL="0">
              <a:spcAft>
                <a:spcPts val="400"/>
              </a:spcAft>
              <a:buNone/>
            </a:pPr>
            <a:r>
              <a:rPr lang="en-US" sz="950" b="1" spc="100" kern="0" dirty="0">
                <a:solidFill>
                  <a:srgbClr val="0FA3B1"/>
                </a:solidFill>
                <a:latin typeface="Calibri" pitchFamily="34" charset="0"/>
                <a:ea typeface="Calibri" pitchFamily="34" charset="-122"/>
                <a:cs typeface="Calibri" pitchFamily="34" charset="-120"/>
              </a:rPr>
              <a:t>MODEL</a:t>
            </a:r>
            <a:endParaRPr lang="en-US" sz="950" dirty="0"/>
          </a:p>
          <a:p>
            <a:pPr indent="0" marL="0">
              <a:spcAft>
                <a:spcPts val="400"/>
              </a:spcAft>
              <a:buNone/>
            </a:pPr>
            <a:r>
              <a:rPr lang="en-US" sz="1000" dirty="0">
                <a:solidFill>
                  <a:srgbClr val="1B2B3A"/>
                </a:solidFill>
                <a:latin typeface="Calibri" pitchFamily="34" charset="0"/>
                <a:ea typeface="Calibri" pitchFamily="34" charset="-122"/>
                <a:cs typeface="Calibri" pitchFamily="34" charset="-120"/>
              </a:rPr>
              <a:t>XGBoost (200 rounds, depth 6, lr 0.08) predicts delay vs the timetable, is chained segment by segment and adds a confidence range of ±5√n min.</a:t>
            </a:r>
            <a:endParaRPr lang="en-US" sz="950" dirty="0"/>
          </a:p>
        </p:txBody>
      </p:sp>
      <p:sp>
        <p:nvSpPr>
          <p:cNvPr id="14" name="Shape 11"/>
          <p:cNvSpPr/>
          <p:nvPr/>
        </p:nvSpPr>
        <p:spPr>
          <a:xfrm>
            <a:off x="365760" y="4114800"/>
            <a:ext cx="4206240" cy="621792"/>
          </a:xfrm>
          <a:prstGeom prst="roundRect">
            <a:avLst>
              <a:gd name="adj" fmla="val 7353"/>
            </a:avLst>
          </a:prstGeom>
          <a:solidFill>
            <a:srgbClr val="FFF6E8"/>
          </a:solidFill>
          <a:ln w="9525">
            <a:solidFill>
              <a:srgbClr val="F2A541"/>
            </a:solidFill>
            <a:prstDash val="solid"/>
          </a:ln>
        </p:spPr>
      </p:sp>
      <p:sp>
        <p:nvSpPr>
          <p:cNvPr id="15" name="Text 12"/>
          <p:cNvSpPr txBox="1"/>
          <p:nvPr/>
        </p:nvSpPr>
        <p:spPr>
          <a:xfrm>
            <a:off x="502920" y="4142232"/>
            <a:ext cx="3977640" cy="566928"/>
          </a:xfrm>
          <a:prstGeom prst="rect">
            <a:avLst/>
          </a:prstGeom>
          <a:noFill/>
          <a:ln/>
        </p:spPr>
        <p:txBody>
          <a:bodyPr wrap="square" lIns="0" tIns="0" rIns="0" bIns="0" rtlCol="0" anchor="ctr"/>
          <a:lstStyle/>
          <a:p>
            <a:pPr indent="0" marL="0">
              <a:buNone/>
            </a:pPr>
            <a:r>
              <a:rPr lang="en-US" sz="950" b="1" dirty="0">
                <a:solidFill>
                  <a:srgbClr val="1B2B3A"/>
                </a:solidFill>
                <a:latin typeface="Calibri" pitchFamily="34" charset="0"/>
                <a:ea typeface="Calibri" pitchFamily="34" charset="-122"/>
                <a:cs typeface="Calibri" pitchFamily="34" charset="-120"/>
              </a:rPr>
              <a:t>Data caveat: </a:t>
            </a:r>
            <a:pPr indent="0" marL="0">
              <a:buNone/>
            </a:pPr>
            <a:r>
              <a:rPr lang="en-US" sz="950" dirty="0">
                <a:solidFill>
                  <a:srgbClr val="1B2B3A"/>
                </a:solidFill>
                <a:latin typeface="Calibri" pitchFamily="34" charset="0"/>
                <a:ea typeface="Calibri" pitchFamily="34" charset="-122"/>
                <a:cs typeface="Calibri" pitchFamily="34" charset="-120"/>
              </a:rPr>
              <a:t>all data is synthetic; results come from 40 held-out simulated journeys, not real Indian Railways logs.</a:t>
            </a:r>
            <a:endParaRPr lang="en-US" sz="950" dirty="0"/>
          </a:p>
        </p:txBody>
      </p:sp>
      <p:sp>
        <p:nvSpPr>
          <p:cNvPr id="16" name="Text 13"/>
          <p:cNvSpPr txBox="1"/>
          <p:nvPr/>
        </p:nvSpPr>
        <p:spPr>
          <a:xfrm>
            <a:off x="4800600" y="713232"/>
            <a:ext cx="3931920" cy="201168"/>
          </a:xfrm>
          <a:prstGeom prst="rect">
            <a:avLst/>
          </a:prstGeom>
          <a:noFill/>
          <a:ln/>
        </p:spPr>
        <p:txBody>
          <a:bodyPr wrap="square" lIns="0" tIns="0" rIns="0" bIns="0" rtlCol="0" anchor="t"/>
          <a:lstStyle/>
          <a:p>
            <a:pPr indent="0" marL="0">
              <a:buNone/>
            </a:pPr>
            <a:r>
              <a:rPr lang="en-US" sz="950" b="1" spc="150" kern="0" dirty="0">
                <a:solidFill>
                  <a:srgbClr val="0FA3B1"/>
                </a:solidFill>
                <a:latin typeface="Calibri" pitchFamily="34" charset="0"/>
                <a:ea typeface="Calibri" pitchFamily="34" charset="-122"/>
                <a:cs typeface="Calibri" pitchFamily="34" charset="-120"/>
              </a:rPr>
              <a:t>FROM DATA TO PREDICTION</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00600" y="960120"/>
          <a:ext cx="3977640" cy="914400"/>
        </p:xfrm>
        <a:graphic>
          <a:graphicData uri="http://schemas.openxmlformats.org/drawingml/2006/table">
            <a:tbl>
              <a:tblPr/>
              <a:tblGrid>
                <a:gridCol w="1143000"/>
                <a:gridCol w="28346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lnL w="9525" cap="flat" cmpd="sng" algn="ctr">
                      <a:solidFill>
                        <a:srgbClr val="D3DCE5"/>
                      </a:solidFill>
                      <a:prstDash val="solid"/>
                      <a:round/>
                      <a:headEnd type="none" w="med" len="med"/>
                      <a:tailEnd type="none" w="med" len="med"/>
                    </a:lnL>
                    <a:lnR w="9525" cap="flat" cmpd="sng" algn="ctr">
                      <a:solidFill>
                        <a:srgbClr val="D3DCE5"/>
                      </a:solidFill>
                      <a:prstDash val="solid"/>
                      <a:round/>
                      <a:headEnd type="none" w="med" len="med"/>
                      <a:tailEnd type="none" w="med" len="med"/>
                    </a:lnR>
                    <a:lnT w="9525" cap="flat" cmpd="sng" algn="ctr">
                      <a:solidFill>
                        <a:srgbClr val="D3DCE5"/>
                      </a:solidFill>
                      <a:prstDash val="solid"/>
                      <a:round/>
                      <a:headEnd type="none" w="med" len="med"/>
                      <a:tailEnd type="none" w="med" len="med"/>
                    </a:lnT>
                    <a:lnB w="9525" cap="flat" cmpd="sng" algn="ctr">
                      <a:solidFill>
                        <a:srgbClr val="D3DCE5"/>
                      </a:solidFill>
                      <a:prstDash val="solid"/>
                      <a:round/>
                      <a:headEnd type="none" w="med" len="med"/>
                      <a:tailEnd type="none" w="med" len="med"/>
                    </a:lnB>
                    <a:solidFill>
                      <a:srgbClr val="13324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it does</a:t>
                      </a:r>
                      <a:endParaRPr lang="en-US" sz="950" dirty="0">
                        <a:latin typeface="Calibri" charset="0"/>
                        <a:ea typeface="Calibri" charset="0"/>
                        <a:cs typeface="Calibri" charset="0"/>
                      </a:endParaRPr>
                    </a:p>
                  </a:txBody>
                  <a:tcPr marL="91440" marR="91440" marT="45720" marB="45720">
                    <a:lnL w="9525" cap="flat" cmpd="sng" algn="ctr">
                      <a:solidFill>
                        <a:srgbClr val="D3DCE5"/>
                      </a:solidFill>
                      <a:prstDash val="solid"/>
                      <a:round/>
                      <a:headEnd type="none" w="med" len="med"/>
                      <a:tailEnd type="none" w="med" len="med"/>
                    </a:lnL>
                    <a:lnR w="9525" cap="flat" cmpd="sng" algn="ctr">
                      <a:solidFill>
                        <a:srgbClr val="D3DCE5"/>
                      </a:solidFill>
                      <a:prstDash val="solid"/>
                      <a:round/>
                      <a:headEnd type="none" w="med" len="med"/>
                      <a:tailEnd type="none" w="med" len="med"/>
                    </a:lnR>
                    <a:lnT w="9525" cap="flat" cmpd="sng" algn="ctr">
                      <a:solidFill>
                        <a:srgbClr val="D3DCE5"/>
                      </a:solidFill>
                      <a:prstDash val="solid"/>
                      <a:round/>
                      <a:headEnd type="none" w="med" len="med"/>
                      <a:tailEnd type="none" w="med" len="med"/>
                    </a:lnT>
                    <a:lnB w="9525" cap="flat" cmpd="sng" algn="ctr">
                      <a:solidFill>
                        <a:srgbClr val="D3DCE5"/>
                      </a:solidFill>
                      <a:prstDash val="solid"/>
                      <a:round/>
                      <a:headEnd type="none" w="med" len="med"/>
                      <a:tailEnd type="none" w="med" len="med"/>
                    </a:lnB>
                    <a:solidFill>
                      <a:srgbClr val="13324F"/>
                    </a:solidFill>
                  </a:tcPr>
                </a:tc>
              </a:tr>
              <a:tr h="566928">
                <a:tc>
                  <a:txBody>
                    <a:bodyPr/>
                    <a:lstStyle/>
                    <a:p>
                      <a:pPr indent="0" marL="0">
                        <a:buNone/>
                      </a:pPr>
                      <a:r>
                        <a:rPr lang="en-US" sz="950" b="1" dirty="0">
                          <a:solidFill>
                            <a:srgbClr val="1B2B3A"/>
                          </a:solidFill>
                          <a:latin typeface="Calibri" pitchFamily="34" charset="0"/>
                          <a:ea typeface="Calibri" pitchFamily="34" charset="-122"/>
                          <a:cs typeface="Calibri" pitchFamily="34" charset="-120"/>
                        </a:rPr>
                        <a:t>Baseline ETA</a:t>
                      </a:r>
                      <a:endParaRPr lang="en-US" sz="950" dirty="0">
                        <a:latin typeface="Calibri" charset="0"/>
                        <a:ea typeface="Calibri" charset="0"/>
                        <a:cs typeface="Calibri" charset="0"/>
                      </a:endParaRPr>
                    </a:p>
                  </a:txBody>
                  <a:tcPr marL="91440" marR="91440" marT="45720" marB="45720" anchor="ctr">
                    <a:lnL w="9525" cap="flat" cmpd="sng" algn="ctr">
                      <a:solidFill>
                        <a:srgbClr val="D3DCE5"/>
                      </a:solidFill>
                      <a:prstDash val="solid"/>
                      <a:round/>
                      <a:headEnd type="none" w="med" len="med"/>
                      <a:tailEnd type="none" w="med" len="med"/>
                    </a:lnL>
                    <a:lnR w="9525" cap="flat" cmpd="sng" algn="ctr">
                      <a:solidFill>
                        <a:srgbClr val="D3DCE5"/>
                      </a:solidFill>
                      <a:prstDash val="solid"/>
                      <a:round/>
                      <a:headEnd type="none" w="med" len="med"/>
                      <a:tailEnd type="none" w="med" len="med"/>
                    </a:lnR>
                    <a:lnT w="9525" cap="flat" cmpd="sng" algn="ctr">
                      <a:solidFill>
                        <a:srgbClr val="D3DCE5"/>
                      </a:solidFill>
                      <a:prstDash val="solid"/>
                      <a:round/>
                      <a:headEnd type="none" w="med" len="med"/>
                      <a:tailEnd type="none" w="med" len="med"/>
                    </a:lnT>
                    <a:lnB w="9525"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950" dirty="0">
                          <a:solidFill>
                            <a:srgbClr val="1B2B3A"/>
                          </a:solidFill>
                          <a:latin typeface="Calibri" pitchFamily="34" charset="0"/>
                          <a:ea typeface="Calibri" pitchFamily="34" charset="-122"/>
                          <a:cs typeface="Calibri" pitchFamily="34" charset="-120"/>
                        </a:rPr>
                        <a:t>Scheduled arrival + current delay − recovery buffer (2.5 min per 100 km)</a:t>
                      </a:r>
                      <a:endParaRPr lang="en-US" sz="950" dirty="0">
                        <a:latin typeface="Calibri" charset="0"/>
                        <a:ea typeface="Calibri" charset="0"/>
                        <a:cs typeface="Calibri" charset="0"/>
                      </a:endParaRPr>
                    </a:p>
                  </a:txBody>
                  <a:tcPr marL="91440" marR="91440" marT="45720" marB="45720" anchor="ctr">
                    <a:lnL w="9525" cap="flat" cmpd="sng" algn="ctr">
                      <a:solidFill>
                        <a:srgbClr val="D3DCE5"/>
                      </a:solidFill>
                      <a:prstDash val="solid"/>
                      <a:round/>
                      <a:headEnd type="none" w="med" len="med"/>
                      <a:tailEnd type="none" w="med" len="med"/>
                    </a:lnL>
                    <a:lnR w="9525" cap="flat" cmpd="sng" algn="ctr">
                      <a:solidFill>
                        <a:srgbClr val="D3DCE5"/>
                      </a:solidFill>
                      <a:prstDash val="solid"/>
                      <a:round/>
                      <a:headEnd type="none" w="med" len="med"/>
                      <a:tailEnd type="none" w="med" len="med"/>
                    </a:lnR>
                    <a:lnT w="9525" cap="flat" cmpd="sng" algn="ctr">
                      <a:solidFill>
                        <a:srgbClr val="D3DCE5"/>
                      </a:solidFill>
                      <a:prstDash val="solid"/>
                      <a:round/>
                      <a:headEnd type="none" w="med" len="med"/>
                      <a:tailEnd type="none" w="med" len="med"/>
                    </a:lnT>
                    <a:lnB w="9525" cap="flat" cmpd="sng" algn="ctr">
                      <a:solidFill>
                        <a:srgbClr val="D3DCE5"/>
                      </a:solidFill>
                      <a:prstDash val="solid"/>
                      <a:round/>
                      <a:headEnd type="none" w="med" len="med"/>
                      <a:tailEnd type="none" w="med" len="med"/>
                    </a:lnB>
                    <a:solidFill>
                      <a:srgbClr val="FFFFFF"/>
                    </a:solidFill>
                  </a:tcPr>
                </a:tc>
              </a:tr>
              <a:tr h="502920">
                <a:tc>
                  <a:txBody>
                    <a:bodyPr/>
                    <a:lstStyle/>
                    <a:p>
                      <a:pPr indent="0" marL="0">
                        <a:buNone/>
                      </a:pPr>
                      <a:r>
                        <a:rPr lang="en-US" sz="950" b="1" dirty="0">
                          <a:solidFill>
                            <a:srgbClr val="1B2B3A"/>
                          </a:solidFill>
                          <a:latin typeface="Calibri" pitchFamily="34" charset="0"/>
                          <a:ea typeface="Calibri" pitchFamily="34" charset="-122"/>
                          <a:cs typeface="Calibri" pitchFamily="34" charset="-120"/>
                        </a:rPr>
                        <a:t>ML ETA</a:t>
                      </a:r>
                      <a:endParaRPr lang="en-US" sz="950" dirty="0">
                        <a:latin typeface="Calibri" charset="0"/>
                        <a:ea typeface="Calibri" charset="0"/>
                        <a:cs typeface="Calibri" charset="0"/>
                      </a:endParaRPr>
                    </a:p>
                  </a:txBody>
                  <a:tcPr marL="91440" marR="91440" marT="45720" marB="45720" anchor="ctr">
                    <a:lnL w="9525" cap="flat" cmpd="sng" algn="ctr">
                      <a:solidFill>
                        <a:srgbClr val="D3DCE5"/>
                      </a:solidFill>
                      <a:prstDash val="solid"/>
                      <a:round/>
                      <a:headEnd type="none" w="med" len="med"/>
                      <a:tailEnd type="none" w="med" len="med"/>
                    </a:lnL>
                    <a:lnR w="9525" cap="flat" cmpd="sng" algn="ctr">
                      <a:solidFill>
                        <a:srgbClr val="D3DCE5"/>
                      </a:solidFill>
                      <a:prstDash val="solid"/>
                      <a:round/>
                      <a:headEnd type="none" w="med" len="med"/>
                      <a:tailEnd type="none" w="med" len="med"/>
                    </a:lnR>
                    <a:lnT w="9525" cap="flat" cmpd="sng" algn="ctr">
                      <a:solidFill>
                        <a:srgbClr val="D3DCE5"/>
                      </a:solidFill>
                      <a:prstDash val="solid"/>
                      <a:round/>
                      <a:headEnd type="none" w="med" len="med"/>
                      <a:tailEnd type="none" w="med" len="med"/>
                    </a:lnT>
                    <a:lnB w="9525"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950" dirty="0">
                          <a:solidFill>
                            <a:srgbClr val="1B2B3A"/>
                          </a:solidFill>
                          <a:latin typeface="Calibri" pitchFamily="34" charset="0"/>
                          <a:ea typeface="Calibri" pitchFamily="34" charset="-122"/>
                          <a:cs typeface="Calibri" pitchFamily="34" charset="-120"/>
                        </a:rPr>
                        <a:t>XGBoost learns actual − scheduled time (a schedule residual)</a:t>
                      </a:r>
                      <a:endParaRPr lang="en-US" sz="950" dirty="0">
                        <a:latin typeface="Calibri" charset="0"/>
                        <a:ea typeface="Calibri" charset="0"/>
                        <a:cs typeface="Calibri" charset="0"/>
                      </a:endParaRPr>
                    </a:p>
                  </a:txBody>
                  <a:tcPr marL="91440" marR="91440" marT="45720" marB="45720" anchor="ctr">
                    <a:lnL w="9525" cap="flat" cmpd="sng" algn="ctr">
                      <a:solidFill>
                        <a:srgbClr val="D3DCE5"/>
                      </a:solidFill>
                      <a:prstDash val="solid"/>
                      <a:round/>
                      <a:headEnd type="none" w="med" len="med"/>
                      <a:tailEnd type="none" w="med" len="med"/>
                    </a:lnL>
                    <a:lnR w="9525" cap="flat" cmpd="sng" algn="ctr">
                      <a:solidFill>
                        <a:srgbClr val="D3DCE5"/>
                      </a:solidFill>
                      <a:prstDash val="solid"/>
                      <a:round/>
                      <a:headEnd type="none" w="med" len="med"/>
                      <a:tailEnd type="none" w="med" len="med"/>
                    </a:lnR>
                    <a:lnT w="9525" cap="flat" cmpd="sng" algn="ctr">
                      <a:solidFill>
                        <a:srgbClr val="D3DCE5"/>
                      </a:solidFill>
                      <a:prstDash val="solid"/>
                      <a:round/>
                      <a:headEnd type="none" w="med" len="med"/>
                      <a:tailEnd type="none" w="med" len="med"/>
                    </a:lnT>
                    <a:lnB w="9525" cap="flat" cmpd="sng" algn="ctr">
                      <a:solidFill>
                        <a:srgbClr val="D3DCE5"/>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1B2B3A"/>
                          </a:solidFill>
                          <a:latin typeface="Calibri" pitchFamily="34" charset="0"/>
                          <a:ea typeface="Calibri" pitchFamily="34" charset="-122"/>
                          <a:cs typeface="Calibri" pitchFamily="34" charset="-120"/>
                        </a:rPr>
                        <a:t>Station chaining</a:t>
                      </a:r>
                      <a:endParaRPr lang="en-US" sz="950" dirty="0">
                        <a:latin typeface="Calibri" charset="0"/>
                        <a:ea typeface="Calibri" charset="0"/>
                        <a:cs typeface="Calibri" charset="0"/>
                      </a:endParaRPr>
                    </a:p>
                  </a:txBody>
                  <a:tcPr marL="91440" marR="91440" marT="45720" marB="45720" anchor="ctr">
                    <a:lnL w="9525" cap="flat" cmpd="sng" algn="ctr">
                      <a:solidFill>
                        <a:srgbClr val="D3DCE5"/>
                      </a:solidFill>
                      <a:prstDash val="solid"/>
                      <a:round/>
                      <a:headEnd type="none" w="med" len="med"/>
                      <a:tailEnd type="none" w="med" len="med"/>
                    </a:lnL>
                    <a:lnR w="9525" cap="flat" cmpd="sng" algn="ctr">
                      <a:solidFill>
                        <a:srgbClr val="D3DCE5"/>
                      </a:solidFill>
                      <a:prstDash val="solid"/>
                      <a:round/>
                      <a:headEnd type="none" w="med" len="med"/>
                      <a:tailEnd type="none" w="med" len="med"/>
                    </a:lnR>
                    <a:lnT w="9525" cap="flat" cmpd="sng" algn="ctr">
                      <a:solidFill>
                        <a:srgbClr val="D3DCE5"/>
                      </a:solidFill>
                      <a:prstDash val="solid"/>
                      <a:round/>
                      <a:headEnd type="none" w="med" len="med"/>
                      <a:tailEnd type="none" w="med" len="med"/>
                    </a:lnT>
                    <a:lnB w="9525"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950" dirty="0">
                          <a:solidFill>
                            <a:srgbClr val="1B2B3A"/>
                          </a:solidFill>
                          <a:latin typeface="Calibri" pitchFamily="34" charset="0"/>
                          <a:ea typeface="Calibri" pitchFamily="34" charset="-122"/>
                          <a:cs typeface="Calibri" pitchFamily="34" charset="-120"/>
                        </a:rPr>
                        <a:t>Chains segments to any upcoming station, with a range that grows as ±5√n min</a:t>
                      </a:r>
                      <a:endParaRPr lang="en-US" sz="950" dirty="0">
                        <a:latin typeface="Calibri" charset="0"/>
                        <a:ea typeface="Calibri" charset="0"/>
                        <a:cs typeface="Calibri" charset="0"/>
                      </a:endParaRPr>
                    </a:p>
                  </a:txBody>
                  <a:tcPr marL="91440" marR="91440" marT="45720" marB="45720" anchor="ctr">
                    <a:lnL w="9525" cap="flat" cmpd="sng" algn="ctr">
                      <a:solidFill>
                        <a:srgbClr val="D3DCE5"/>
                      </a:solidFill>
                      <a:prstDash val="solid"/>
                      <a:round/>
                      <a:headEnd type="none" w="med" len="med"/>
                      <a:tailEnd type="none" w="med" len="med"/>
                    </a:lnL>
                    <a:lnR w="9525" cap="flat" cmpd="sng" algn="ctr">
                      <a:solidFill>
                        <a:srgbClr val="D3DCE5"/>
                      </a:solidFill>
                      <a:prstDash val="solid"/>
                      <a:round/>
                      <a:headEnd type="none" w="med" len="med"/>
                      <a:tailEnd type="none" w="med" len="med"/>
                    </a:lnR>
                    <a:lnT w="9525" cap="flat" cmpd="sng" algn="ctr">
                      <a:solidFill>
                        <a:srgbClr val="D3DCE5"/>
                      </a:solidFill>
                      <a:prstDash val="solid"/>
                      <a:round/>
                      <a:headEnd type="none" w="med" len="med"/>
                      <a:tailEnd type="none" w="med" len="med"/>
                    </a:lnT>
                    <a:lnB w="9525" cap="flat" cmpd="sng" algn="ctr">
                      <a:solidFill>
                        <a:srgbClr val="D3DCE5"/>
                      </a:solidFill>
                      <a:prstDash val="solid"/>
                      <a:round/>
                      <a:headEnd type="none" w="med" len="med"/>
                      <a:tailEnd type="none" w="med" len="med"/>
                    </a:lnB>
                    <a:solidFill>
                      <a:srgbClr val="FFFFFF"/>
                    </a:solidFill>
                  </a:tcPr>
                </a:tc>
              </a:tr>
              <a:tr h="502920">
                <a:tc>
                  <a:txBody>
                    <a:bodyPr/>
                    <a:lstStyle/>
                    <a:p>
                      <a:pPr indent="0" marL="0">
                        <a:buNone/>
                      </a:pPr>
                      <a:r>
                        <a:rPr lang="en-US" sz="950" b="1" dirty="0">
                          <a:solidFill>
                            <a:srgbClr val="1B2B3A"/>
                          </a:solidFill>
                          <a:latin typeface="Calibri" pitchFamily="34" charset="0"/>
                          <a:ea typeface="Calibri" pitchFamily="34" charset="-122"/>
                          <a:cs typeface="Calibri" pitchFamily="34" charset="-120"/>
                        </a:rPr>
                        <a:t>Live feed</a:t>
                      </a:r>
                      <a:endParaRPr lang="en-US" sz="950" dirty="0">
                        <a:latin typeface="Calibri" charset="0"/>
                        <a:ea typeface="Calibri" charset="0"/>
                        <a:cs typeface="Calibri" charset="0"/>
                      </a:endParaRPr>
                    </a:p>
                  </a:txBody>
                  <a:tcPr marL="91440" marR="91440" marT="45720" marB="45720" anchor="ctr">
                    <a:lnL w="9525" cap="flat" cmpd="sng" algn="ctr">
                      <a:solidFill>
                        <a:srgbClr val="D3DCE5"/>
                      </a:solidFill>
                      <a:prstDash val="solid"/>
                      <a:round/>
                      <a:headEnd type="none" w="med" len="med"/>
                      <a:tailEnd type="none" w="med" len="med"/>
                    </a:lnL>
                    <a:lnR w="9525" cap="flat" cmpd="sng" algn="ctr">
                      <a:solidFill>
                        <a:srgbClr val="D3DCE5"/>
                      </a:solidFill>
                      <a:prstDash val="solid"/>
                      <a:round/>
                      <a:headEnd type="none" w="med" len="med"/>
                      <a:tailEnd type="none" w="med" len="med"/>
                    </a:lnR>
                    <a:lnT w="9525" cap="flat" cmpd="sng" algn="ctr">
                      <a:solidFill>
                        <a:srgbClr val="D3DCE5"/>
                      </a:solidFill>
                      <a:prstDash val="solid"/>
                      <a:round/>
                      <a:headEnd type="none" w="med" len="med"/>
                      <a:tailEnd type="none" w="med" len="med"/>
                    </a:lnT>
                    <a:lnB w="9525" cap="flat" cmpd="sng" algn="ctr">
                      <a:solidFill>
                        <a:srgbClr val="D3DCE5"/>
                      </a:solidFill>
                      <a:prstDash val="solid"/>
                      <a:round/>
                      <a:headEnd type="none" w="med" len="med"/>
                      <a:tailEnd type="none" w="med" len="med"/>
                    </a:lnB>
                    <a:solidFill>
                      <a:srgbClr val="FFFFFF"/>
                    </a:solidFill>
                  </a:tcPr>
                </a:tc>
                <a:tc>
                  <a:txBody>
                    <a:bodyPr/>
                    <a:lstStyle/>
                    <a:p>
                      <a:pPr indent="0" marL="0">
                        <a:buNone/>
                      </a:pPr>
                      <a:r>
                        <a:rPr lang="en-US" sz="950" dirty="0">
                          <a:solidFill>
                            <a:srgbClr val="1B2B3A"/>
                          </a:solidFill>
                          <a:latin typeface="Calibri" pitchFamily="34" charset="0"/>
                          <a:ea typeface="Calibri" pitchFamily="34" charset="-122"/>
                          <a:cs typeface="Calibri" pitchFamily="34" charset="-120"/>
                        </a:rPr>
                        <a:t>Optional RailRadar data cached 60 s, with simulator fallback</a:t>
                      </a:r>
                      <a:endParaRPr lang="en-US" sz="950" dirty="0">
                        <a:latin typeface="Calibri" charset="0"/>
                        <a:ea typeface="Calibri" charset="0"/>
                        <a:cs typeface="Calibri" charset="0"/>
                      </a:endParaRPr>
                    </a:p>
                  </a:txBody>
                  <a:tcPr marL="91440" marR="91440" marT="45720" marB="45720" anchor="ctr">
                    <a:lnL w="9525" cap="flat" cmpd="sng" algn="ctr">
                      <a:solidFill>
                        <a:srgbClr val="D3DCE5"/>
                      </a:solidFill>
                      <a:prstDash val="solid"/>
                      <a:round/>
                      <a:headEnd type="none" w="med" len="med"/>
                      <a:tailEnd type="none" w="med" len="med"/>
                    </a:lnL>
                    <a:lnR w="9525" cap="flat" cmpd="sng" algn="ctr">
                      <a:solidFill>
                        <a:srgbClr val="D3DCE5"/>
                      </a:solidFill>
                      <a:prstDash val="solid"/>
                      <a:round/>
                      <a:headEnd type="none" w="med" len="med"/>
                      <a:tailEnd type="none" w="med" len="med"/>
                    </a:lnR>
                    <a:lnT w="9525" cap="flat" cmpd="sng" algn="ctr">
                      <a:solidFill>
                        <a:srgbClr val="D3DCE5"/>
                      </a:solidFill>
                      <a:prstDash val="solid"/>
                      <a:round/>
                      <a:headEnd type="none" w="med" len="med"/>
                      <a:tailEnd type="none" w="med" len="med"/>
                    </a:lnT>
                    <a:lnB w="9525" cap="flat" cmpd="sng" algn="ctr">
                      <a:solidFill>
                        <a:srgbClr val="D3DCE5"/>
                      </a:solidFill>
                      <a:prstDash val="solid"/>
                      <a:round/>
                      <a:headEnd type="none" w="med" len="med"/>
                      <a:tailEnd type="none" w="med" len="med"/>
                    </a:lnB>
                    <a:solidFill>
                      <a:srgbClr val="FFFFFF"/>
                    </a:solidFill>
                  </a:tcPr>
                </a:tc>
              </a:tr>
            </a:tbl>
          </a:graphicData>
        </a:graphic>
      </p:graphicFrame>
      <p:sp>
        <p:nvSpPr>
          <p:cNvPr id="18" name="Shape 14"/>
          <p:cNvSpPr/>
          <p:nvPr/>
        </p:nvSpPr>
        <p:spPr>
          <a:xfrm>
            <a:off x="4800600" y="3794760"/>
            <a:ext cx="3977640" cy="941832"/>
          </a:xfrm>
          <a:prstGeom prst="roundRect">
            <a:avLst>
              <a:gd name="adj" fmla="val 4854"/>
            </a:avLst>
          </a:prstGeom>
          <a:solidFill>
            <a:srgbClr val="E6F6F7"/>
          </a:solidFill>
          <a:ln w="9525">
            <a:solidFill>
              <a:srgbClr val="0FA3B1"/>
            </a:solidFill>
            <a:prstDash val="solid"/>
          </a:ln>
        </p:spPr>
      </p:sp>
      <p:sp>
        <p:nvSpPr>
          <p:cNvPr id="19" name="Text 15"/>
          <p:cNvSpPr txBox="1"/>
          <p:nvPr/>
        </p:nvSpPr>
        <p:spPr>
          <a:xfrm>
            <a:off x="4956048" y="3867912"/>
            <a:ext cx="3703320" cy="822960"/>
          </a:xfrm>
          <a:prstGeom prst="rect">
            <a:avLst/>
          </a:prstGeom>
          <a:noFill/>
          <a:ln/>
        </p:spPr>
        <p:txBody>
          <a:bodyPr wrap="square" lIns="0" tIns="0" rIns="0" bIns="0" rtlCol="0" anchor="t"/>
          <a:lstStyle/>
          <a:p>
            <a:pPr indent="0" marL="0">
              <a:spcAft>
                <a:spcPts val="400"/>
              </a:spcAft>
              <a:buNone/>
            </a:pPr>
            <a:r>
              <a:rPr lang="en-US" sz="950" b="1" spc="100" kern="0" dirty="0">
                <a:solidFill>
                  <a:srgbClr val="0FA3B1"/>
                </a:solidFill>
                <a:latin typeface="Calibri" pitchFamily="34" charset="0"/>
                <a:ea typeface="Calibri" pitchFamily="34" charset="-122"/>
                <a:cs typeface="Calibri" pitchFamily="34" charset="-120"/>
              </a:rPr>
              <a:t>KEY FIX</a:t>
            </a:r>
            <a:endParaRPr lang="en-US" sz="950" dirty="0"/>
          </a:p>
          <a:p>
            <a:pPr indent="0" marL="0">
              <a:spcAft>
                <a:spcPts val="400"/>
              </a:spcAft>
              <a:buNone/>
            </a:pPr>
            <a:r>
              <a:rPr lang="en-US" sz="1050" dirty="0">
                <a:solidFill>
                  <a:srgbClr val="1B2B3A"/>
                </a:solidFill>
                <a:latin typeface="Calibri" pitchFamily="34" charset="0"/>
                <a:ea typeface="Calibri" pitchFamily="34" charset="-122"/>
                <a:cs typeface="Calibri" pitchFamily="34" charset="-120"/>
              </a:rPr>
              <a:t>Predict the delay vs the timetable, not raw minutes. This is what made the ML model beat the baseline at 1, 3 and 5 stations ahead.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B1F33"/>
          </a:solidFill>
          <a:ln w="12700">
            <a:solidFill>
              <a:srgbClr val="0B1F33"/>
            </a:solidFill>
            <a:prstDash val="solid"/>
          </a:ln>
        </p:spPr>
      </p:sp>
      <p:sp>
        <p:nvSpPr>
          <p:cNvPr id="3" name="Shape 1"/>
          <p:cNvSpPr/>
          <p:nvPr/>
        </p:nvSpPr>
        <p:spPr>
          <a:xfrm>
            <a:off x="365760" y="173736"/>
            <a:ext cx="91440" cy="219456"/>
          </a:xfrm>
          <a:prstGeom prst="rect">
            <a:avLst/>
          </a:prstGeom>
          <a:solidFill>
            <a:srgbClr val="F2A541"/>
          </a:solidFill>
          <a:ln w="12700">
            <a:solidFill>
              <a:srgbClr val="F2A541"/>
            </a:solidFill>
            <a:prstDash val="solid"/>
          </a:ln>
        </p:spPr>
      </p:sp>
      <p:sp>
        <p:nvSpPr>
          <p:cNvPr id="4" name="Text 2"/>
          <p:cNvSpPr txBox="1"/>
          <p:nvPr/>
        </p:nvSpPr>
        <p:spPr>
          <a:xfrm>
            <a:off x="594360" y="82296"/>
            <a:ext cx="7863840" cy="402336"/>
          </a:xfrm>
          <a:prstGeom prst="rect">
            <a:avLst/>
          </a:prstGeom>
          <a:noFill/>
          <a:ln/>
        </p:spPr>
        <p:txBody>
          <a:bodyPr wrap="square" lIns="0" tIns="0" rIns="0" bIns="0" rtlCol="0" anchor="ctr"/>
          <a:lstStyle/>
          <a:p>
            <a:pPr indent="0" marL="0">
              <a:buNone/>
            </a:pPr>
            <a:r>
              <a:rPr lang="en-US" sz="1600" b="1" spc="100" kern="0" dirty="0">
                <a:solidFill>
                  <a:srgbClr val="FFFFFF"/>
                </a:solidFill>
                <a:latin typeface="Calibri" pitchFamily="34" charset="0"/>
                <a:ea typeface="Calibri" pitchFamily="34" charset="-122"/>
                <a:cs typeface="Calibri" pitchFamily="34" charset="-120"/>
              </a:rPr>
              <a:t>RESULTS: ML BEATS THE BASELINE</a:t>
            </a:r>
            <a:endParaRPr lang="en-US" sz="1600" dirty="0"/>
          </a:p>
        </p:txBody>
      </p:sp>
      <p:sp>
        <p:nvSpPr>
          <p:cNvPr id="5" name="Text 3"/>
          <p:cNvSpPr txBox="1"/>
          <p:nvPr/>
        </p:nvSpPr>
        <p:spPr>
          <a:xfrm>
            <a:off x="365760" y="4846320"/>
            <a:ext cx="5486400" cy="201168"/>
          </a:xfrm>
          <a:prstGeom prst="rect">
            <a:avLst/>
          </a:prstGeom>
          <a:noFill/>
          <a:ln/>
        </p:spPr>
        <p:txBody>
          <a:bodyPr wrap="square" lIns="0" tIns="0" rIns="0" bIns="0" rtlCol="0" anchor="t"/>
          <a:lstStyle/>
          <a:p>
            <a:pPr indent="0" marL="0">
              <a:buNone/>
            </a:pPr>
            <a:r>
              <a:rPr lang="en-US" sz="850" dirty="0">
                <a:solidFill>
                  <a:srgbClr val="5B6B7B"/>
                </a:solidFill>
                <a:latin typeface="Calibri" pitchFamily="34" charset="0"/>
                <a:ea typeface="Calibri" pitchFamily="34" charset="-122"/>
                <a:cs typeface="Calibri" pitchFamily="34" charset="-120"/>
              </a:rPr>
              <a:t>Dynamic ETA Forecasting Engine  |  Alva’s Institute of Engineering &amp; Technology</a:t>
            </a:r>
            <a:endParaRPr lang="en-US" sz="850" dirty="0"/>
          </a:p>
        </p:txBody>
      </p:sp>
      <p:sp>
        <p:nvSpPr>
          <p:cNvPr id="6" name="Text 4"/>
          <p:cNvSpPr txBox="1"/>
          <p:nvPr/>
        </p:nvSpPr>
        <p:spPr>
          <a:xfrm>
            <a:off x="7863840" y="4846320"/>
            <a:ext cx="914400" cy="201168"/>
          </a:xfrm>
          <a:prstGeom prst="rect">
            <a:avLst/>
          </a:prstGeom>
          <a:noFill/>
          <a:ln/>
        </p:spPr>
        <p:txBody>
          <a:bodyPr wrap="square" lIns="0" tIns="0" rIns="0" bIns="0" rtlCol="0" anchor="t"/>
          <a:lstStyle/>
          <a:p>
            <a:pPr algn="r" indent="0" marL="0">
              <a:buNone/>
            </a:pPr>
            <a:r>
              <a:rPr lang="en-US" sz="850" dirty="0">
                <a:solidFill>
                  <a:srgbClr val="5B6B7B"/>
                </a:solidFill>
                <a:latin typeface="Calibri" pitchFamily="34" charset="0"/>
                <a:ea typeface="Calibri" pitchFamily="34" charset="-122"/>
                <a:cs typeface="Calibri" pitchFamily="34" charset="-120"/>
              </a:rPr>
              <a:t>6 / 9</a:t>
            </a:r>
            <a:endParaRPr lang="en-US" sz="850" dirty="0"/>
          </a:p>
        </p:txBody>
      </p:sp>
      <p:sp>
        <p:nvSpPr>
          <p:cNvPr id="8" name="Text 5"/>
          <p:cNvSpPr txBox="1"/>
          <p:nvPr/>
        </p:nvSpPr>
        <p:spPr>
          <a:xfrm>
            <a:off x="365760" y="676656"/>
            <a:ext cx="5303520" cy="365760"/>
          </a:xfrm>
          <a:prstGeom prst="rect">
            <a:avLst/>
          </a:prstGeom>
          <a:noFill/>
          <a:ln/>
        </p:spPr>
        <p:txBody>
          <a:bodyPr wrap="square" lIns="0" tIns="0" rIns="0" bIns="0" rtlCol="0" anchor="t"/>
          <a:lstStyle/>
          <a:p>
            <a:pPr indent="0" marL="0">
              <a:buNone/>
            </a:pPr>
            <a:r>
              <a:rPr lang="en-US" sz="1050" b="1" dirty="0">
                <a:solidFill>
                  <a:srgbClr val="1B2B3A"/>
                </a:solidFill>
                <a:latin typeface="Calibri" pitchFamily="34" charset="0"/>
                <a:ea typeface="Calibri" pitchFamily="34" charset="-122"/>
                <a:cs typeface="Calibri" pitchFamily="34" charset="-120"/>
              </a:rPr>
              <a:t>MAE in minutes (lower is better) on 40 unseen journeys; 1,210 / 810 / 410 samples per horizon</a:t>
            </a:r>
            <a:endParaRPr lang="en-US" sz="1050" dirty="0"/>
          </a:p>
        </p:txBody>
      </p:sp>
      <p:graphicFrame>
        <p:nvGraphicFramePr>
          <p:cNvPr id="9" name="Chart 0" descr=""/>
          <p:cNvGraphicFramePr/>
          <p:nvPr/>
        </p:nvGraphicFramePr>
        <p:xfrm>
          <a:off x="365760" y="1051560"/>
          <a:ext cx="5303520" cy="3703320"/>
        </p:xfrm>
        <a:graphic xmlns:a="http://schemas.openxmlformats.org/drawingml/2006/main">
          <a:graphicData uri="http://schemas.openxmlformats.org/drawingml/2006/chart">
            <c:chart xmlns:c="http://schemas.openxmlformats.org/drawingml/2006/chart" r:id="rId1"/>
          </a:graphicData>
        </a:graphic>
      </p:graphicFrame>
      <p:sp>
        <p:nvSpPr>
          <p:cNvPr id="10" name="Shape 6"/>
          <p:cNvSpPr/>
          <p:nvPr/>
        </p:nvSpPr>
        <p:spPr>
          <a:xfrm>
            <a:off x="5897880" y="731520"/>
            <a:ext cx="2880360" cy="1554480"/>
          </a:xfrm>
          <a:prstGeom prst="roundRect">
            <a:avLst>
              <a:gd name="adj" fmla="val 2941"/>
            </a:avLst>
          </a:prstGeom>
          <a:solidFill>
            <a:srgbClr val="0B1F33"/>
          </a:solidFill>
          <a:ln w="12700">
            <a:solidFill>
              <a:srgbClr val="0B1F33"/>
            </a:solidFill>
            <a:prstDash val="solid"/>
          </a:ln>
        </p:spPr>
      </p:sp>
      <p:sp>
        <p:nvSpPr>
          <p:cNvPr id="11" name="Text 7"/>
          <p:cNvSpPr txBox="1"/>
          <p:nvPr/>
        </p:nvSpPr>
        <p:spPr>
          <a:xfrm>
            <a:off x="5897880" y="731520"/>
            <a:ext cx="2880360" cy="1554480"/>
          </a:xfrm>
          <a:prstGeom prst="rect">
            <a:avLst/>
          </a:prstGeom>
          <a:noFill/>
          <a:ln/>
        </p:spPr>
        <p:txBody>
          <a:bodyPr wrap="square" lIns="0" tIns="0" rIns="0" bIns="0" rtlCol="0" anchor="ctr"/>
          <a:lstStyle/>
          <a:p>
            <a:pPr algn="ctr" indent="0" marL="0">
              <a:spcAft>
                <a:spcPts val="200"/>
              </a:spcAft>
              <a:buNone/>
            </a:pPr>
            <a:r>
              <a:rPr lang="en-US" sz="4400" b="1" dirty="0">
                <a:solidFill>
                  <a:srgbClr val="FFFFFF"/>
                </a:solidFill>
                <a:latin typeface="Calibri" pitchFamily="34" charset="0"/>
                <a:ea typeface="Calibri" pitchFamily="34" charset="-122"/>
                <a:cs typeface="Calibri" pitchFamily="34" charset="-120"/>
              </a:rPr>
              <a:t>61.9%</a:t>
            </a:r>
            <a:endParaRPr lang="en-US" sz="4400" dirty="0"/>
          </a:p>
          <a:p>
            <a:pPr algn="ctr" indent="0" marL="0">
              <a:spcAft>
                <a:spcPts val="200"/>
              </a:spcAft>
              <a:buNone/>
            </a:pPr>
            <a:r>
              <a:rPr lang="en-US" sz="1100" dirty="0">
                <a:solidFill>
                  <a:srgbClr val="B9C7D6"/>
                </a:solidFill>
                <a:latin typeface="Calibri" pitchFamily="34" charset="0"/>
                <a:ea typeface="Calibri" pitchFamily="34" charset="-122"/>
                <a:cs typeface="Calibri" pitchFamily="34" charset="-120"/>
              </a:rPr>
              <a:t>lower error overall</a:t>
            </a:r>
            <a:endParaRPr lang="en-US" sz="4400" dirty="0"/>
          </a:p>
          <a:p>
            <a:pPr algn="ctr" indent="0" marL="0">
              <a:spcAft>
                <a:spcPts val="200"/>
              </a:spcAft>
              <a:buNone/>
            </a:pPr>
            <a:r>
              <a:rPr lang="en-US" sz="1400" b="1" dirty="0">
                <a:solidFill>
                  <a:srgbClr val="F2A541"/>
                </a:solidFill>
                <a:latin typeface="Calibri" pitchFamily="34" charset="0"/>
                <a:ea typeface="Calibri" pitchFamily="34" charset="-122"/>
                <a:cs typeface="Calibri" pitchFamily="34" charset="-120"/>
              </a:rPr>
              <a:t>74.1 min  →  28.3 min</a:t>
            </a:r>
            <a:endParaRPr lang="en-US" sz="4400" dirty="0"/>
          </a:p>
        </p:txBody>
      </p:sp>
      <p:sp>
        <p:nvSpPr>
          <p:cNvPr id="12" name="Shape 8"/>
          <p:cNvSpPr/>
          <p:nvPr/>
        </p:nvSpPr>
        <p:spPr>
          <a:xfrm>
            <a:off x="5897880" y="2423160"/>
            <a:ext cx="2880360" cy="822960"/>
          </a:xfrm>
          <a:prstGeom prst="roundRect">
            <a:avLst>
              <a:gd name="adj" fmla="val 5556"/>
            </a:avLst>
          </a:prstGeom>
          <a:solidFill>
            <a:srgbClr val="FFFFFF"/>
          </a:solidFill>
          <a:ln w="9525">
            <a:solidFill>
              <a:srgbClr val="D3DCE5"/>
            </a:solidFill>
            <a:prstDash val="solid"/>
          </a:ln>
        </p:spPr>
      </p:sp>
      <p:sp>
        <p:nvSpPr>
          <p:cNvPr id="13" name="Text 9"/>
          <p:cNvSpPr txBox="1"/>
          <p:nvPr/>
        </p:nvSpPr>
        <p:spPr>
          <a:xfrm>
            <a:off x="6035040" y="2423160"/>
            <a:ext cx="2651760" cy="822960"/>
          </a:xfrm>
          <a:prstGeom prst="rect">
            <a:avLst/>
          </a:prstGeom>
          <a:noFill/>
          <a:ln/>
        </p:spPr>
        <p:txBody>
          <a:bodyPr wrap="square" lIns="0" tIns="0" rIns="0" bIns="0" rtlCol="0" anchor="ctr"/>
          <a:lstStyle/>
          <a:p>
            <a:pPr indent="0" marL="0">
              <a:spcAft>
                <a:spcPts val="400"/>
              </a:spcAft>
              <a:buNone/>
            </a:pPr>
            <a:r>
              <a:rPr lang="en-US" sz="1100" b="1" dirty="0">
                <a:solidFill>
                  <a:srgbClr val="1B2B3A"/>
                </a:solidFill>
                <a:latin typeface="Calibri" pitchFamily="34" charset="0"/>
                <a:ea typeface="Calibri" pitchFamily="34" charset="-122"/>
                <a:cs typeface="Calibri" pitchFamily="34" charset="-120"/>
              </a:rPr>
              <a:t>Normal running: +62.4%</a:t>
            </a:r>
            <a:endParaRPr lang="en-US" sz="1100" dirty="0"/>
          </a:p>
          <a:p>
            <a:pPr indent="0" marL="0">
              <a:spcAft>
                <a:spcPts val="400"/>
              </a:spcAft>
              <a:buNone/>
            </a:pPr>
            <a:r>
              <a:rPr lang="en-US" sz="1100" b="1" dirty="0">
                <a:solidFill>
                  <a:srgbClr val="1B2B3A"/>
                </a:solidFill>
                <a:latin typeface="Calibri" pitchFamily="34" charset="0"/>
                <a:ea typeface="Calibri" pitchFamily="34" charset="-122"/>
                <a:cs typeface="Calibri" pitchFamily="34" charset="-120"/>
              </a:rPr>
              <a:t>With disruptions: +60.9%</a:t>
            </a:r>
            <a:endParaRPr lang="en-US" sz="1100" dirty="0"/>
          </a:p>
        </p:txBody>
      </p:sp>
      <p:sp>
        <p:nvSpPr>
          <p:cNvPr id="14" name="Shape 10"/>
          <p:cNvSpPr/>
          <p:nvPr/>
        </p:nvSpPr>
        <p:spPr>
          <a:xfrm>
            <a:off x="5897880" y="3383280"/>
            <a:ext cx="2880360" cy="1353312"/>
          </a:xfrm>
          <a:prstGeom prst="roundRect">
            <a:avLst>
              <a:gd name="adj" fmla="val 3378"/>
            </a:avLst>
          </a:prstGeom>
          <a:solidFill>
            <a:srgbClr val="FFF6E8"/>
          </a:solidFill>
          <a:ln w="9525">
            <a:solidFill>
              <a:srgbClr val="F2A541"/>
            </a:solidFill>
            <a:prstDash val="solid"/>
          </a:ln>
        </p:spPr>
      </p:sp>
      <p:sp>
        <p:nvSpPr>
          <p:cNvPr id="15" name="Text 11"/>
          <p:cNvSpPr txBox="1"/>
          <p:nvPr/>
        </p:nvSpPr>
        <p:spPr>
          <a:xfrm>
            <a:off x="6035040" y="3474720"/>
            <a:ext cx="2651760" cy="1188720"/>
          </a:xfrm>
          <a:prstGeom prst="rect">
            <a:avLst/>
          </a:prstGeom>
          <a:noFill/>
          <a:ln/>
        </p:spPr>
        <p:txBody>
          <a:bodyPr wrap="square" lIns="0" tIns="0" rIns="0" bIns="0" rtlCol="0" anchor="t"/>
          <a:lstStyle/>
          <a:p>
            <a:pPr indent="0" marL="0">
              <a:spcAft>
                <a:spcPts val="400"/>
              </a:spcAft>
              <a:buNone/>
            </a:pPr>
            <a:r>
              <a:rPr lang="en-US" sz="1100" b="1" dirty="0">
                <a:solidFill>
                  <a:srgbClr val="1B2B3A"/>
                </a:solidFill>
                <a:latin typeface="Calibri" pitchFamily="34" charset="0"/>
                <a:ea typeface="Calibri" pitchFamily="34" charset="-122"/>
                <a:cs typeface="Calibri" pitchFamily="34" charset="-120"/>
              </a:rPr>
              <a:t>Key fix</a:t>
            </a:r>
            <a:endParaRPr lang="en-US" sz="1100" dirty="0"/>
          </a:p>
          <a:p>
            <a:pPr indent="0" marL="0">
              <a:spcAft>
                <a:spcPts val="400"/>
              </a:spcAft>
              <a:buNone/>
            </a:pPr>
            <a:r>
              <a:rPr lang="en-US" sz="1050" dirty="0">
                <a:solidFill>
                  <a:srgbClr val="1B2B3A"/>
                </a:solidFill>
                <a:latin typeface="Calibri" pitchFamily="34" charset="0"/>
                <a:ea typeface="Calibri" pitchFamily="34" charset="-122"/>
                <a:cs typeface="Calibri" pitchFamily="34" charset="-120"/>
              </a:rPr>
              <a:t>Predict the delay vs the timetable, not raw minutes. RMSE also falls 102.0 → 48.1 min.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B1F33"/>
          </a:solidFill>
          <a:ln w="12700">
            <a:solidFill>
              <a:srgbClr val="0B1F33"/>
            </a:solidFill>
            <a:prstDash val="solid"/>
          </a:ln>
        </p:spPr>
      </p:sp>
      <p:sp>
        <p:nvSpPr>
          <p:cNvPr id="3" name="Shape 1"/>
          <p:cNvSpPr/>
          <p:nvPr/>
        </p:nvSpPr>
        <p:spPr>
          <a:xfrm>
            <a:off x="365760" y="173736"/>
            <a:ext cx="91440" cy="219456"/>
          </a:xfrm>
          <a:prstGeom prst="rect">
            <a:avLst/>
          </a:prstGeom>
          <a:solidFill>
            <a:srgbClr val="F2A541"/>
          </a:solidFill>
          <a:ln w="12700">
            <a:solidFill>
              <a:srgbClr val="F2A541"/>
            </a:solidFill>
            <a:prstDash val="solid"/>
          </a:ln>
        </p:spPr>
      </p:sp>
      <p:sp>
        <p:nvSpPr>
          <p:cNvPr id="4" name="Text 2"/>
          <p:cNvSpPr txBox="1"/>
          <p:nvPr/>
        </p:nvSpPr>
        <p:spPr>
          <a:xfrm>
            <a:off x="594360" y="82296"/>
            <a:ext cx="7863840" cy="402336"/>
          </a:xfrm>
          <a:prstGeom prst="rect">
            <a:avLst/>
          </a:prstGeom>
          <a:noFill/>
          <a:ln/>
        </p:spPr>
        <p:txBody>
          <a:bodyPr wrap="square" lIns="0" tIns="0" rIns="0" bIns="0" rtlCol="0" anchor="ctr"/>
          <a:lstStyle/>
          <a:p>
            <a:pPr indent="0" marL="0">
              <a:buNone/>
            </a:pPr>
            <a:r>
              <a:rPr lang="en-US" sz="1600" b="1" spc="100" kern="0" dirty="0">
                <a:solidFill>
                  <a:srgbClr val="FFFFFF"/>
                </a:solidFill>
                <a:latin typeface="Calibri" pitchFamily="34" charset="0"/>
                <a:ea typeface="Calibri" pitchFamily="34" charset="-122"/>
                <a:cs typeface="Calibri" pitchFamily="34" charset="-120"/>
              </a:rPr>
              <a:t>SYSTEM IMPLEMENTATION</a:t>
            </a:r>
            <a:endParaRPr lang="en-US" sz="1600" dirty="0"/>
          </a:p>
        </p:txBody>
      </p:sp>
      <p:sp>
        <p:nvSpPr>
          <p:cNvPr id="5" name="Text 3"/>
          <p:cNvSpPr txBox="1"/>
          <p:nvPr/>
        </p:nvSpPr>
        <p:spPr>
          <a:xfrm>
            <a:off x="365760" y="4846320"/>
            <a:ext cx="5486400" cy="201168"/>
          </a:xfrm>
          <a:prstGeom prst="rect">
            <a:avLst/>
          </a:prstGeom>
          <a:noFill/>
          <a:ln/>
        </p:spPr>
        <p:txBody>
          <a:bodyPr wrap="square" lIns="0" tIns="0" rIns="0" bIns="0" rtlCol="0" anchor="t"/>
          <a:lstStyle/>
          <a:p>
            <a:pPr indent="0" marL="0">
              <a:buNone/>
            </a:pPr>
            <a:r>
              <a:rPr lang="en-US" sz="850" dirty="0">
                <a:solidFill>
                  <a:srgbClr val="5B6B7B"/>
                </a:solidFill>
                <a:latin typeface="Calibri" pitchFamily="34" charset="0"/>
                <a:ea typeface="Calibri" pitchFamily="34" charset="-122"/>
                <a:cs typeface="Calibri" pitchFamily="34" charset="-120"/>
              </a:rPr>
              <a:t>Dynamic ETA Forecasting Engine  |  Alva’s Institute of Engineering &amp; Technology</a:t>
            </a:r>
            <a:endParaRPr lang="en-US" sz="850" dirty="0"/>
          </a:p>
        </p:txBody>
      </p:sp>
      <p:sp>
        <p:nvSpPr>
          <p:cNvPr id="6" name="Text 4"/>
          <p:cNvSpPr txBox="1"/>
          <p:nvPr/>
        </p:nvSpPr>
        <p:spPr>
          <a:xfrm>
            <a:off x="7863840" y="4846320"/>
            <a:ext cx="914400" cy="201168"/>
          </a:xfrm>
          <a:prstGeom prst="rect">
            <a:avLst/>
          </a:prstGeom>
          <a:noFill/>
          <a:ln/>
        </p:spPr>
        <p:txBody>
          <a:bodyPr wrap="square" lIns="0" tIns="0" rIns="0" bIns="0" rtlCol="0" anchor="t"/>
          <a:lstStyle/>
          <a:p>
            <a:pPr algn="r" indent="0" marL="0">
              <a:buNone/>
            </a:pPr>
            <a:r>
              <a:rPr lang="en-US" sz="850" dirty="0">
                <a:solidFill>
                  <a:srgbClr val="5B6B7B"/>
                </a:solidFill>
                <a:latin typeface="Calibri" pitchFamily="34" charset="0"/>
                <a:ea typeface="Calibri" pitchFamily="34" charset="-122"/>
                <a:cs typeface="Calibri" pitchFamily="34" charset="-120"/>
              </a:rPr>
              <a:t>7 / 9</a:t>
            </a:r>
            <a:endParaRPr lang="en-US" sz="850" dirty="0"/>
          </a:p>
        </p:txBody>
      </p:sp>
      <p:sp>
        <p:nvSpPr>
          <p:cNvPr id="8" name="Text 5"/>
          <p:cNvSpPr txBox="1"/>
          <p:nvPr/>
        </p:nvSpPr>
        <p:spPr>
          <a:xfrm>
            <a:off x="365760" y="694944"/>
            <a:ext cx="5486400" cy="201168"/>
          </a:xfrm>
          <a:prstGeom prst="rect">
            <a:avLst/>
          </a:prstGeom>
          <a:noFill/>
          <a:ln/>
        </p:spPr>
        <p:txBody>
          <a:bodyPr wrap="square" lIns="0" tIns="0" rIns="0" bIns="0" rtlCol="0" anchor="t"/>
          <a:lstStyle/>
          <a:p>
            <a:pPr indent="0" marL="0">
              <a:buNone/>
            </a:pPr>
            <a:r>
              <a:rPr lang="en-US" sz="950" b="1" spc="150" kern="0" dirty="0">
                <a:solidFill>
                  <a:srgbClr val="0FA3B1"/>
                </a:solidFill>
                <a:latin typeface="Calibri" pitchFamily="34" charset="0"/>
                <a:ea typeface="Calibri" pitchFamily="34" charset="-122"/>
                <a:cs typeface="Calibri" pitchFamily="34" charset="-120"/>
              </a:rPr>
              <a:t>IMPLEMENTED SCREENS (all reading the same API)</a:t>
            </a:r>
            <a:endParaRPr lang="en-US" sz="950" dirty="0"/>
          </a:p>
        </p:txBody>
      </p:sp>
      <p:sp>
        <p:nvSpPr>
          <p:cNvPr id="9" name="Shape 6"/>
          <p:cNvSpPr/>
          <p:nvPr/>
        </p:nvSpPr>
        <p:spPr>
          <a:xfrm>
            <a:off x="365760" y="932688"/>
            <a:ext cx="1965960" cy="1188720"/>
          </a:xfrm>
          <a:prstGeom prst="roundRect">
            <a:avLst>
              <a:gd name="adj" fmla="val 3846"/>
            </a:avLst>
          </a:prstGeom>
          <a:solidFill>
            <a:srgbClr val="FFFFFF"/>
          </a:solidFill>
          <a:ln w="9525">
            <a:solidFill>
              <a:srgbClr val="D3DCE5"/>
            </a:solidFill>
            <a:prstDash val="solid"/>
          </a:ln>
        </p:spPr>
      </p:sp>
      <p:sp>
        <p:nvSpPr>
          <p:cNvPr id="10" name="Shape 7"/>
          <p:cNvSpPr/>
          <p:nvPr/>
        </p:nvSpPr>
        <p:spPr>
          <a:xfrm>
            <a:off x="365760" y="932688"/>
            <a:ext cx="1965960" cy="329184"/>
          </a:xfrm>
          <a:prstGeom prst="rect">
            <a:avLst/>
          </a:prstGeom>
          <a:solidFill>
            <a:srgbClr val="0B1F33"/>
          </a:solidFill>
          <a:ln w="12700">
            <a:solidFill>
              <a:srgbClr val="0B1F33"/>
            </a:solidFill>
            <a:prstDash val="solid"/>
          </a:ln>
        </p:spPr>
      </p:sp>
      <p:sp>
        <p:nvSpPr>
          <p:cNvPr id="11" name="Text 8"/>
          <p:cNvSpPr txBox="1"/>
          <p:nvPr/>
        </p:nvSpPr>
        <p:spPr>
          <a:xfrm>
            <a:off x="475488" y="932688"/>
            <a:ext cx="178308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Control Room</a:t>
            </a:r>
            <a:endParaRPr lang="en-US" sz="1100" dirty="0"/>
          </a:p>
        </p:txBody>
      </p:sp>
      <p:sp>
        <p:nvSpPr>
          <p:cNvPr id="12" name="Text 9"/>
          <p:cNvSpPr txBox="1"/>
          <p:nvPr/>
        </p:nvSpPr>
        <p:spPr>
          <a:xfrm>
            <a:off x="475488" y="1335024"/>
            <a:ext cx="1746504" cy="731520"/>
          </a:xfrm>
          <a:prstGeom prst="rect">
            <a:avLst/>
          </a:prstGeom>
          <a:noFill/>
          <a:ln/>
        </p:spPr>
        <p:txBody>
          <a:bodyPr wrap="square" lIns="0" tIns="0" rIns="0" bIns="0" rtlCol="0" anchor="t"/>
          <a:lstStyle/>
          <a:p>
            <a:pPr indent="0" marL="0">
              <a:buNone/>
            </a:pPr>
            <a:r>
              <a:rPr lang="en-US" sz="1000" dirty="0">
                <a:solidFill>
                  <a:srgbClr val="1B2B3A"/>
                </a:solidFill>
                <a:latin typeface="Calibri" pitchFamily="34" charset="0"/>
                <a:ea typeface="Calibri" pitchFamily="34" charset="-122"/>
                <a:cs typeface="Calibri" pitchFamily="34" charset="-120"/>
              </a:rPr>
              <a:t>Fleet, events and trains. Inject a disruption and both ETAs update immediately.</a:t>
            </a:r>
            <a:endParaRPr lang="en-US" sz="1000" dirty="0"/>
          </a:p>
        </p:txBody>
      </p:sp>
      <p:sp>
        <p:nvSpPr>
          <p:cNvPr id="13" name="Shape 10"/>
          <p:cNvSpPr/>
          <p:nvPr/>
        </p:nvSpPr>
        <p:spPr>
          <a:xfrm>
            <a:off x="2514600" y="932688"/>
            <a:ext cx="1965960" cy="1188720"/>
          </a:xfrm>
          <a:prstGeom prst="roundRect">
            <a:avLst>
              <a:gd name="adj" fmla="val 3846"/>
            </a:avLst>
          </a:prstGeom>
          <a:solidFill>
            <a:srgbClr val="FFFFFF"/>
          </a:solidFill>
          <a:ln w="9525">
            <a:solidFill>
              <a:srgbClr val="D3DCE5"/>
            </a:solidFill>
            <a:prstDash val="solid"/>
          </a:ln>
        </p:spPr>
      </p:sp>
      <p:sp>
        <p:nvSpPr>
          <p:cNvPr id="14" name="Shape 11"/>
          <p:cNvSpPr/>
          <p:nvPr/>
        </p:nvSpPr>
        <p:spPr>
          <a:xfrm>
            <a:off x="2514600" y="932688"/>
            <a:ext cx="1965960" cy="329184"/>
          </a:xfrm>
          <a:prstGeom prst="rect">
            <a:avLst/>
          </a:prstGeom>
          <a:solidFill>
            <a:srgbClr val="0B1F33"/>
          </a:solidFill>
          <a:ln w="12700">
            <a:solidFill>
              <a:srgbClr val="0B1F33"/>
            </a:solidFill>
            <a:prstDash val="solid"/>
          </a:ln>
        </p:spPr>
      </p:sp>
      <p:sp>
        <p:nvSpPr>
          <p:cNvPr id="15" name="Text 12"/>
          <p:cNvSpPr txBox="1"/>
          <p:nvPr/>
        </p:nvSpPr>
        <p:spPr>
          <a:xfrm>
            <a:off x="2624328" y="932688"/>
            <a:ext cx="178308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Passenger Lookup</a:t>
            </a:r>
            <a:endParaRPr lang="en-US" sz="1100" dirty="0"/>
          </a:p>
        </p:txBody>
      </p:sp>
      <p:sp>
        <p:nvSpPr>
          <p:cNvPr id="16" name="Text 13"/>
          <p:cNvSpPr txBox="1"/>
          <p:nvPr/>
        </p:nvSpPr>
        <p:spPr>
          <a:xfrm>
            <a:off x="2624328" y="1335024"/>
            <a:ext cx="1746504" cy="731520"/>
          </a:xfrm>
          <a:prstGeom prst="rect">
            <a:avLst/>
          </a:prstGeom>
          <a:noFill/>
          <a:ln/>
        </p:spPr>
        <p:txBody>
          <a:bodyPr wrap="square" lIns="0" tIns="0" rIns="0" bIns="0" rtlCol="0" anchor="t"/>
          <a:lstStyle/>
          <a:p>
            <a:pPr indent="0" marL="0">
              <a:buNone/>
            </a:pPr>
            <a:r>
              <a:rPr lang="en-US" sz="1000" dirty="0">
                <a:solidFill>
                  <a:srgbClr val="1B2B3A"/>
                </a:solidFill>
                <a:latin typeface="Calibri" pitchFamily="34" charset="0"/>
                <a:ea typeface="Calibri" pitchFamily="34" charset="-122"/>
                <a:cs typeface="Calibri" pitchFamily="34" charset="-120"/>
              </a:rPr>
              <a:t>ETA at any station, baseline beside ML.</a:t>
            </a:r>
            <a:endParaRPr lang="en-US" sz="1000" dirty="0"/>
          </a:p>
        </p:txBody>
      </p:sp>
      <p:sp>
        <p:nvSpPr>
          <p:cNvPr id="17" name="Shape 14"/>
          <p:cNvSpPr/>
          <p:nvPr/>
        </p:nvSpPr>
        <p:spPr>
          <a:xfrm>
            <a:off x="4663440" y="932688"/>
            <a:ext cx="1965960" cy="1188720"/>
          </a:xfrm>
          <a:prstGeom prst="roundRect">
            <a:avLst>
              <a:gd name="adj" fmla="val 3846"/>
            </a:avLst>
          </a:prstGeom>
          <a:solidFill>
            <a:srgbClr val="FFFFFF"/>
          </a:solidFill>
          <a:ln w="9525">
            <a:solidFill>
              <a:srgbClr val="D3DCE5"/>
            </a:solidFill>
            <a:prstDash val="solid"/>
          </a:ln>
        </p:spPr>
      </p:sp>
      <p:sp>
        <p:nvSpPr>
          <p:cNvPr id="18" name="Shape 15"/>
          <p:cNvSpPr/>
          <p:nvPr/>
        </p:nvSpPr>
        <p:spPr>
          <a:xfrm>
            <a:off x="4663440" y="932688"/>
            <a:ext cx="1965960" cy="329184"/>
          </a:xfrm>
          <a:prstGeom prst="rect">
            <a:avLst/>
          </a:prstGeom>
          <a:solidFill>
            <a:srgbClr val="0B1F33"/>
          </a:solidFill>
          <a:ln w="12700">
            <a:solidFill>
              <a:srgbClr val="0B1F33"/>
            </a:solidFill>
            <a:prstDash val="solid"/>
          </a:ln>
        </p:spPr>
      </p:sp>
      <p:sp>
        <p:nvSpPr>
          <p:cNvPr id="19" name="Text 16"/>
          <p:cNvSpPr txBox="1"/>
          <p:nvPr/>
        </p:nvSpPr>
        <p:spPr>
          <a:xfrm>
            <a:off x="4773168" y="932688"/>
            <a:ext cx="178308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Station Board</a:t>
            </a:r>
            <a:endParaRPr lang="en-US" sz="1100" dirty="0"/>
          </a:p>
        </p:txBody>
      </p:sp>
      <p:sp>
        <p:nvSpPr>
          <p:cNvPr id="20" name="Text 17"/>
          <p:cNvSpPr txBox="1"/>
          <p:nvPr/>
        </p:nvSpPr>
        <p:spPr>
          <a:xfrm>
            <a:off x="4773168" y="1335024"/>
            <a:ext cx="1746504" cy="731520"/>
          </a:xfrm>
          <a:prstGeom prst="rect">
            <a:avLst/>
          </a:prstGeom>
          <a:noFill/>
          <a:ln/>
        </p:spPr>
        <p:txBody>
          <a:bodyPr wrap="square" lIns="0" tIns="0" rIns="0" bIns="0" rtlCol="0" anchor="t"/>
          <a:lstStyle/>
          <a:p>
            <a:pPr indent="0" marL="0">
              <a:buNone/>
            </a:pPr>
            <a:r>
              <a:rPr lang="en-US" sz="1000" dirty="0">
                <a:solidFill>
                  <a:srgbClr val="1B2B3A"/>
                </a:solidFill>
                <a:latin typeface="Calibri" pitchFamily="34" charset="0"/>
                <a:ea typeface="Calibri" pitchFamily="34" charset="-122"/>
                <a:cs typeface="Calibri" pitchFamily="34" charset="-120"/>
              </a:rPr>
              <a:t>Arrivals ordered by ML ETA.</a:t>
            </a:r>
            <a:endParaRPr lang="en-US" sz="1000" dirty="0"/>
          </a:p>
        </p:txBody>
      </p:sp>
      <p:sp>
        <p:nvSpPr>
          <p:cNvPr id="21" name="Shape 18"/>
          <p:cNvSpPr/>
          <p:nvPr/>
        </p:nvSpPr>
        <p:spPr>
          <a:xfrm>
            <a:off x="6812280" y="932688"/>
            <a:ext cx="1965960" cy="1188720"/>
          </a:xfrm>
          <a:prstGeom prst="roundRect">
            <a:avLst>
              <a:gd name="adj" fmla="val 3846"/>
            </a:avLst>
          </a:prstGeom>
          <a:solidFill>
            <a:srgbClr val="FFFFFF"/>
          </a:solidFill>
          <a:ln w="9525">
            <a:solidFill>
              <a:srgbClr val="D3DCE5"/>
            </a:solidFill>
            <a:prstDash val="solid"/>
          </a:ln>
        </p:spPr>
      </p:sp>
      <p:sp>
        <p:nvSpPr>
          <p:cNvPr id="22" name="Shape 19"/>
          <p:cNvSpPr/>
          <p:nvPr/>
        </p:nvSpPr>
        <p:spPr>
          <a:xfrm>
            <a:off x="6812280" y="932688"/>
            <a:ext cx="1965960" cy="329184"/>
          </a:xfrm>
          <a:prstGeom prst="rect">
            <a:avLst/>
          </a:prstGeom>
          <a:solidFill>
            <a:srgbClr val="0B1F33"/>
          </a:solidFill>
          <a:ln w="12700">
            <a:solidFill>
              <a:srgbClr val="0B1F33"/>
            </a:solidFill>
            <a:prstDash val="solid"/>
          </a:ln>
        </p:spPr>
      </p:sp>
      <p:sp>
        <p:nvSpPr>
          <p:cNvPr id="23" name="Text 20"/>
          <p:cNvSpPr txBox="1"/>
          <p:nvPr/>
        </p:nvSpPr>
        <p:spPr>
          <a:xfrm>
            <a:off x="6922008" y="932688"/>
            <a:ext cx="1783080"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Model Evaluation</a:t>
            </a:r>
            <a:endParaRPr lang="en-US" sz="1100" dirty="0"/>
          </a:p>
        </p:txBody>
      </p:sp>
      <p:sp>
        <p:nvSpPr>
          <p:cNvPr id="24" name="Text 21"/>
          <p:cNvSpPr txBox="1"/>
          <p:nvPr/>
        </p:nvSpPr>
        <p:spPr>
          <a:xfrm>
            <a:off x="6922008" y="1335024"/>
            <a:ext cx="1746504" cy="731520"/>
          </a:xfrm>
          <a:prstGeom prst="rect">
            <a:avLst/>
          </a:prstGeom>
          <a:noFill/>
          <a:ln/>
        </p:spPr>
        <p:txBody>
          <a:bodyPr wrap="square" lIns="0" tIns="0" rIns="0" bIns="0" rtlCol="0" anchor="t"/>
          <a:lstStyle/>
          <a:p>
            <a:pPr indent="0" marL="0">
              <a:buNone/>
            </a:pPr>
            <a:r>
              <a:rPr lang="en-US" sz="1000" dirty="0">
                <a:solidFill>
                  <a:srgbClr val="1B2B3A"/>
                </a:solidFill>
                <a:latin typeface="Calibri" pitchFamily="34" charset="0"/>
                <a:ea typeface="Calibri" pitchFamily="34" charset="-122"/>
                <a:cs typeface="Calibri" pitchFamily="34" charset="-120"/>
              </a:rPr>
              <a:t>MAE and RMSE vs the baseline.</a:t>
            </a:r>
            <a:endParaRPr lang="en-US" sz="1000" dirty="0"/>
          </a:p>
        </p:txBody>
      </p:sp>
      <p:sp>
        <p:nvSpPr>
          <p:cNvPr id="25" name="Text 22"/>
          <p:cNvSpPr txBox="1"/>
          <p:nvPr/>
        </p:nvSpPr>
        <p:spPr>
          <a:xfrm>
            <a:off x="365760" y="2331720"/>
            <a:ext cx="5486400" cy="201168"/>
          </a:xfrm>
          <a:prstGeom prst="rect">
            <a:avLst/>
          </a:prstGeom>
          <a:noFill/>
          <a:ln/>
        </p:spPr>
        <p:txBody>
          <a:bodyPr wrap="square" lIns="0" tIns="0" rIns="0" bIns="0" rtlCol="0" anchor="t"/>
          <a:lstStyle/>
          <a:p>
            <a:pPr indent="0" marL="0">
              <a:buNone/>
            </a:pPr>
            <a:r>
              <a:rPr lang="en-US" sz="950" b="1" spc="150" kern="0" dirty="0">
                <a:solidFill>
                  <a:srgbClr val="0FA3B1"/>
                </a:solidFill>
                <a:latin typeface="Calibri" pitchFamily="34" charset="0"/>
                <a:ea typeface="Calibri" pitchFamily="34" charset="-122"/>
                <a:cs typeface="Calibri" pitchFamily="34" charset="-120"/>
              </a:rPr>
              <a:t>IMPLEMENTED CAPABILITIES</a:t>
            </a:r>
            <a:endParaRPr lang="en-US" sz="950" dirty="0"/>
          </a:p>
        </p:txBody>
      </p:sp>
      <p:sp>
        <p:nvSpPr>
          <p:cNvPr id="26" name="Shape 23"/>
          <p:cNvSpPr/>
          <p:nvPr/>
        </p:nvSpPr>
        <p:spPr>
          <a:xfrm>
            <a:off x="365760" y="2578608"/>
            <a:ext cx="1965960" cy="329184"/>
          </a:xfrm>
          <a:prstGeom prst="roundRect">
            <a:avLst>
              <a:gd name="adj" fmla="val 11111"/>
            </a:avLst>
          </a:prstGeom>
          <a:solidFill>
            <a:srgbClr val="E6F6F7"/>
          </a:solidFill>
          <a:ln w="9525">
            <a:solidFill>
              <a:srgbClr val="9ED9DE"/>
            </a:solidFill>
            <a:prstDash val="solid"/>
          </a:ln>
        </p:spPr>
      </p:sp>
      <p:sp>
        <p:nvSpPr>
          <p:cNvPr id="27" name="Text 24"/>
          <p:cNvSpPr txBox="1"/>
          <p:nvPr/>
        </p:nvSpPr>
        <p:spPr>
          <a:xfrm>
            <a:off x="365760" y="2578608"/>
            <a:ext cx="1965960" cy="329184"/>
          </a:xfrm>
          <a:prstGeom prst="rect">
            <a:avLst/>
          </a:prstGeom>
          <a:noFill/>
          <a:ln/>
        </p:spPr>
        <p:txBody>
          <a:bodyPr wrap="square" lIns="0" tIns="0" rIns="0" bIns="0" rtlCol="0" anchor="ctr"/>
          <a:lstStyle/>
          <a:p>
            <a:pPr algn="ctr" indent="0" marL="0">
              <a:buNone/>
            </a:pPr>
            <a:r>
              <a:rPr lang="en-US" sz="1000" dirty="0">
                <a:solidFill>
                  <a:srgbClr val="1B2B3A"/>
                </a:solidFill>
                <a:latin typeface="Calibri" pitchFamily="34" charset="0"/>
                <a:ea typeface="Calibri" pitchFamily="34" charset="-122"/>
                <a:cs typeface="Calibri" pitchFamily="34" charset="-120"/>
              </a:rPr>
              <a:t>12 typed FastAPI endpoints</a:t>
            </a:r>
            <a:endParaRPr lang="en-US" sz="1000" dirty="0"/>
          </a:p>
        </p:txBody>
      </p:sp>
      <p:sp>
        <p:nvSpPr>
          <p:cNvPr id="28" name="Shape 25"/>
          <p:cNvSpPr/>
          <p:nvPr/>
        </p:nvSpPr>
        <p:spPr>
          <a:xfrm>
            <a:off x="2514600" y="2578608"/>
            <a:ext cx="1965960" cy="329184"/>
          </a:xfrm>
          <a:prstGeom prst="roundRect">
            <a:avLst>
              <a:gd name="adj" fmla="val 11111"/>
            </a:avLst>
          </a:prstGeom>
          <a:solidFill>
            <a:srgbClr val="E6F6F7"/>
          </a:solidFill>
          <a:ln w="9525">
            <a:solidFill>
              <a:srgbClr val="9ED9DE"/>
            </a:solidFill>
            <a:prstDash val="solid"/>
          </a:ln>
        </p:spPr>
      </p:sp>
      <p:sp>
        <p:nvSpPr>
          <p:cNvPr id="29" name="Text 26"/>
          <p:cNvSpPr txBox="1"/>
          <p:nvPr/>
        </p:nvSpPr>
        <p:spPr>
          <a:xfrm>
            <a:off x="2514600" y="2578608"/>
            <a:ext cx="1965960" cy="329184"/>
          </a:xfrm>
          <a:prstGeom prst="rect">
            <a:avLst/>
          </a:prstGeom>
          <a:noFill/>
          <a:ln/>
        </p:spPr>
        <p:txBody>
          <a:bodyPr wrap="square" lIns="0" tIns="0" rIns="0" bIns="0" rtlCol="0" anchor="ctr"/>
          <a:lstStyle/>
          <a:p>
            <a:pPr algn="ctr" indent="0" marL="0">
              <a:buNone/>
            </a:pPr>
            <a:r>
              <a:rPr lang="en-US" sz="1000" dirty="0">
                <a:solidFill>
                  <a:srgbClr val="1B2B3A"/>
                </a:solidFill>
                <a:latin typeface="Calibri" pitchFamily="34" charset="0"/>
                <a:ea typeface="Calibri" pitchFamily="34" charset="-122"/>
                <a:cs typeface="Calibri" pitchFamily="34" charset="-120"/>
              </a:rPr>
              <a:t>Baseline and ML ETAs</a:t>
            </a:r>
            <a:endParaRPr lang="en-US" sz="1000" dirty="0"/>
          </a:p>
        </p:txBody>
      </p:sp>
      <p:sp>
        <p:nvSpPr>
          <p:cNvPr id="30" name="Shape 27"/>
          <p:cNvSpPr/>
          <p:nvPr/>
        </p:nvSpPr>
        <p:spPr>
          <a:xfrm>
            <a:off x="4663440" y="2578608"/>
            <a:ext cx="1965960" cy="329184"/>
          </a:xfrm>
          <a:prstGeom prst="roundRect">
            <a:avLst>
              <a:gd name="adj" fmla="val 11111"/>
            </a:avLst>
          </a:prstGeom>
          <a:solidFill>
            <a:srgbClr val="E6F6F7"/>
          </a:solidFill>
          <a:ln w="9525">
            <a:solidFill>
              <a:srgbClr val="9ED9DE"/>
            </a:solidFill>
            <a:prstDash val="solid"/>
          </a:ln>
        </p:spPr>
      </p:sp>
      <p:sp>
        <p:nvSpPr>
          <p:cNvPr id="31" name="Text 28"/>
          <p:cNvSpPr txBox="1"/>
          <p:nvPr/>
        </p:nvSpPr>
        <p:spPr>
          <a:xfrm>
            <a:off x="4663440" y="2578608"/>
            <a:ext cx="1965960" cy="329184"/>
          </a:xfrm>
          <a:prstGeom prst="rect">
            <a:avLst/>
          </a:prstGeom>
          <a:noFill/>
          <a:ln/>
        </p:spPr>
        <p:txBody>
          <a:bodyPr wrap="square" lIns="0" tIns="0" rIns="0" bIns="0" rtlCol="0" anchor="ctr"/>
          <a:lstStyle/>
          <a:p>
            <a:pPr algn="ctr" indent="0" marL="0">
              <a:buNone/>
            </a:pPr>
            <a:r>
              <a:rPr lang="en-US" sz="1000" dirty="0">
                <a:solidFill>
                  <a:srgbClr val="1B2B3A"/>
                </a:solidFill>
                <a:latin typeface="Calibri" pitchFamily="34" charset="0"/>
                <a:ea typeface="Calibri" pitchFamily="34" charset="-122"/>
                <a:cs typeface="Calibri" pitchFamily="34" charset="-120"/>
              </a:rPr>
              <a:t>Confidence ranges</a:t>
            </a:r>
            <a:endParaRPr lang="en-US" sz="1000" dirty="0"/>
          </a:p>
        </p:txBody>
      </p:sp>
      <p:sp>
        <p:nvSpPr>
          <p:cNvPr id="32" name="Shape 29"/>
          <p:cNvSpPr/>
          <p:nvPr/>
        </p:nvSpPr>
        <p:spPr>
          <a:xfrm>
            <a:off x="6812280" y="2578608"/>
            <a:ext cx="1965960" cy="329184"/>
          </a:xfrm>
          <a:prstGeom prst="roundRect">
            <a:avLst>
              <a:gd name="adj" fmla="val 11111"/>
            </a:avLst>
          </a:prstGeom>
          <a:solidFill>
            <a:srgbClr val="E6F6F7"/>
          </a:solidFill>
          <a:ln w="9525">
            <a:solidFill>
              <a:srgbClr val="9ED9DE"/>
            </a:solidFill>
            <a:prstDash val="solid"/>
          </a:ln>
        </p:spPr>
      </p:sp>
      <p:sp>
        <p:nvSpPr>
          <p:cNvPr id="33" name="Text 30"/>
          <p:cNvSpPr txBox="1"/>
          <p:nvPr/>
        </p:nvSpPr>
        <p:spPr>
          <a:xfrm>
            <a:off x="6812280" y="2578608"/>
            <a:ext cx="1965960" cy="329184"/>
          </a:xfrm>
          <a:prstGeom prst="rect">
            <a:avLst/>
          </a:prstGeom>
          <a:noFill/>
          <a:ln/>
        </p:spPr>
        <p:txBody>
          <a:bodyPr wrap="square" lIns="0" tIns="0" rIns="0" bIns="0" rtlCol="0" anchor="ctr"/>
          <a:lstStyle/>
          <a:p>
            <a:pPr algn="ctr" indent="0" marL="0">
              <a:buNone/>
            </a:pPr>
            <a:r>
              <a:rPr lang="en-US" sz="1000" dirty="0">
                <a:solidFill>
                  <a:srgbClr val="1B2B3A"/>
                </a:solidFill>
                <a:latin typeface="Calibri" pitchFamily="34" charset="0"/>
                <a:ea typeface="Calibri" pitchFamily="34" charset="-122"/>
                <a:cs typeface="Calibri" pitchFamily="34" charset="-120"/>
              </a:rPr>
              <a:t>60 s live-data cache</a:t>
            </a:r>
            <a:endParaRPr lang="en-US" sz="1000" dirty="0"/>
          </a:p>
        </p:txBody>
      </p:sp>
      <p:sp>
        <p:nvSpPr>
          <p:cNvPr id="34" name="Shape 31"/>
          <p:cNvSpPr/>
          <p:nvPr/>
        </p:nvSpPr>
        <p:spPr>
          <a:xfrm>
            <a:off x="365760" y="2999232"/>
            <a:ext cx="1965960" cy="329184"/>
          </a:xfrm>
          <a:prstGeom prst="roundRect">
            <a:avLst>
              <a:gd name="adj" fmla="val 11111"/>
            </a:avLst>
          </a:prstGeom>
          <a:solidFill>
            <a:srgbClr val="E6F6F7"/>
          </a:solidFill>
          <a:ln w="9525">
            <a:solidFill>
              <a:srgbClr val="9ED9DE"/>
            </a:solidFill>
            <a:prstDash val="solid"/>
          </a:ln>
        </p:spPr>
      </p:sp>
      <p:sp>
        <p:nvSpPr>
          <p:cNvPr id="35" name="Text 32"/>
          <p:cNvSpPr txBox="1"/>
          <p:nvPr/>
        </p:nvSpPr>
        <p:spPr>
          <a:xfrm>
            <a:off x="365760" y="2999232"/>
            <a:ext cx="1965960" cy="329184"/>
          </a:xfrm>
          <a:prstGeom prst="rect">
            <a:avLst/>
          </a:prstGeom>
          <a:noFill/>
          <a:ln/>
        </p:spPr>
        <p:txBody>
          <a:bodyPr wrap="square" lIns="0" tIns="0" rIns="0" bIns="0" rtlCol="0" anchor="ctr"/>
          <a:lstStyle/>
          <a:p>
            <a:pPr algn="ctr" indent="0" marL="0">
              <a:buNone/>
            </a:pPr>
            <a:r>
              <a:rPr lang="en-US" sz="1000" dirty="0">
                <a:solidFill>
                  <a:srgbClr val="1B2B3A"/>
                </a:solidFill>
                <a:latin typeface="Calibri" pitchFamily="34" charset="0"/>
                <a:ea typeface="Calibri" pitchFamily="34" charset="-122"/>
                <a:cs typeface="Calibri" pitchFamily="34" charset="-120"/>
              </a:rPr>
              <a:t>Live feed with fallback</a:t>
            </a:r>
            <a:endParaRPr lang="en-US" sz="1000" dirty="0"/>
          </a:p>
        </p:txBody>
      </p:sp>
      <p:sp>
        <p:nvSpPr>
          <p:cNvPr id="36" name="Shape 33"/>
          <p:cNvSpPr/>
          <p:nvPr/>
        </p:nvSpPr>
        <p:spPr>
          <a:xfrm>
            <a:off x="2514600" y="2999232"/>
            <a:ext cx="1965960" cy="329184"/>
          </a:xfrm>
          <a:prstGeom prst="roundRect">
            <a:avLst>
              <a:gd name="adj" fmla="val 11111"/>
            </a:avLst>
          </a:prstGeom>
          <a:solidFill>
            <a:srgbClr val="E6F6F7"/>
          </a:solidFill>
          <a:ln w="9525">
            <a:solidFill>
              <a:srgbClr val="9ED9DE"/>
            </a:solidFill>
            <a:prstDash val="solid"/>
          </a:ln>
        </p:spPr>
      </p:sp>
      <p:sp>
        <p:nvSpPr>
          <p:cNvPr id="37" name="Text 34"/>
          <p:cNvSpPr txBox="1"/>
          <p:nvPr/>
        </p:nvSpPr>
        <p:spPr>
          <a:xfrm>
            <a:off x="2514600" y="2999232"/>
            <a:ext cx="1965960" cy="329184"/>
          </a:xfrm>
          <a:prstGeom prst="rect">
            <a:avLst/>
          </a:prstGeom>
          <a:noFill/>
          <a:ln/>
        </p:spPr>
        <p:txBody>
          <a:bodyPr wrap="square" lIns="0" tIns="0" rIns="0" bIns="0" rtlCol="0" anchor="ctr"/>
          <a:lstStyle/>
          <a:p>
            <a:pPr algn="ctr" indent="0" marL="0">
              <a:buNone/>
            </a:pPr>
            <a:r>
              <a:rPr lang="en-US" sz="1000" dirty="0">
                <a:solidFill>
                  <a:srgbClr val="1B2B3A"/>
                </a:solidFill>
                <a:latin typeface="Calibri" pitchFamily="34" charset="0"/>
                <a:ea typeface="Calibri" pitchFamily="34" charset="-122"/>
                <a:cs typeface="Calibri" pitchFamily="34" charset="-120"/>
              </a:rPr>
              <a:t>On-demand disruptions</a:t>
            </a:r>
            <a:endParaRPr lang="en-US" sz="1000" dirty="0"/>
          </a:p>
        </p:txBody>
      </p:sp>
      <p:sp>
        <p:nvSpPr>
          <p:cNvPr id="38" name="Shape 35"/>
          <p:cNvSpPr/>
          <p:nvPr/>
        </p:nvSpPr>
        <p:spPr>
          <a:xfrm>
            <a:off x="4663440" y="2999232"/>
            <a:ext cx="1965960" cy="329184"/>
          </a:xfrm>
          <a:prstGeom prst="roundRect">
            <a:avLst>
              <a:gd name="adj" fmla="val 11111"/>
            </a:avLst>
          </a:prstGeom>
          <a:solidFill>
            <a:srgbClr val="E6F6F7"/>
          </a:solidFill>
          <a:ln w="9525">
            <a:solidFill>
              <a:srgbClr val="9ED9DE"/>
            </a:solidFill>
            <a:prstDash val="solid"/>
          </a:ln>
        </p:spPr>
      </p:sp>
      <p:sp>
        <p:nvSpPr>
          <p:cNvPr id="39" name="Text 36"/>
          <p:cNvSpPr txBox="1"/>
          <p:nvPr/>
        </p:nvSpPr>
        <p:spPr>
          <a:xfrm>
            <a:off x="4663440" y="2999232"/>
            <a:ext cx="1965960" cy="329184"/>
          </a:xfrm>
          <a:prstGeom prst="rect">
            <a:avLst/>
          </a:prstGeom>
          <a:noFill/>
          <a:ln/>
        </p:spPr>
        <p:txBody>
          <a:bodyPr wrap="square" lIns="0" tIns="0" rIns="0" bIns="0" rtlCol="0" anchor="ctr"/>
          <a:lstStyle/>
          <a:p>
            <a:pPr algn="ctr" indent="0" marL="0">
              <a:buNone/>
            </a:pPr>
            <a:r>
              <a:rPr lang="en-US" sz="1000" dirty="0">
                <a:solidFill>
                  <a:srgbClr val="1B2B3A"/>
                </a:solidFill>
                <a:latin typeface="Calibri" pitchFamily="34" charset="0"/>
                <a:ea typeface="Calibri" pitchFamily="34" charset="-122"/>
                <a:cs typeface="Calibri" pitchFamily="34" charset="-120"/>
              </a:rPr>
              <a:t>SQLite database</a:t>
            </a:r>
            <a:endParaRPr lang="en-US" sz="1000" dirty="0"/>
          </a:p>
        </p:txBody>
      </p:sp>
      <p:sp>
        <p:nvSpPr>
          <p:cNvPr id="40" name="Shape 37"/>
          <p:cNvSpPr/>
          <p:nvPr/>
        </p:nvSpPr>
        <p:spPr>
          <a:xfrm>
            <a:off x="6812280" y="2999232"/>
            <a:ext cx="1965960" cy="329184"/>
          </a:xfrm>
          <a:prstGeom prst="roundRect">
            <a:avLst>
              <a:gd name="adj" fmla="val 11111"/>
            </a:avLst>
          </a:prstGeom>
          <a:solidFill>
            <a:srgbClr val="E6F6F7"/>
          </a:solidFill>
          <a:ln w="9525">
            <a:solidFill>
              <a:srgbClr val="9ED9DE"/>
            </a:solidFill>
            <a:prstDash val="solid"/>
          </a:ln>
        </p:spPr>
      </p:sp>
      <p:sp>
        <p:nvSpPr>
          <p:cNvPr id="41" name="Text 38"/>
          <p:cNvSpPr txBox="1"/>
          <p:nvPr/>
        </p:nvSpPr>
        <p:spPr>
          <a:xfrm>
            <a:off x="6812280" y="2999232"/>
            <a:ext cx="1965960" cy="329184"/>
          </a:xfrm>
          <a:prstGeom prst="rect">
            <a:avLst/>
          </a:prstGeom>
          <a:noFill/>
          <a:ln/>
        </p:spPr>
        <p:txBody>
          <a:bodyPr wrap="square" lIns="0" tIns="0" rIns="0" bIns="0" rtlCol="0" anchor="ctr"/>
          <a:lstStyle/>
          <a:p>
            <a:pPr algn="ctr" indent="0" marL="0">
              <a:buNone/>
            </a:pPr>
            <a:r>
              <a:rPr lang="en-US" sz="1000" dirty="0">
                <a:solidFill>
                  <a:srgbClr val="1B2B3A"/>
                </a:solidFill>
                <a:latin typeface="Calibri" pitchFamily="34" charset="0"/>
                <a:ea typeface="Calibri" pitchFamily="34" charset="-122"/>
                <a:cs typeface="Calibri" pitchFamily="34" charset="-120"/>
              </a:rPr>
              <a:t>150+ automated tests</a:t>
            </a:r>
            <a:endParaRPr lang="en-US" sz="1000" dirty="0"/>
          </a:p>
        </p:txBody>
      </p:sp>
      <p:sp>
        <p:nvSpPr>
          <p:cNvPr id="42" name="Text 39"/>
          <p:cNvSpPr txBox="1"/>
          <p:nvPr/>
        </p:nvSpPr>
        <p:spPr>
          <a:xfrm>
            <a:off x="365760" y="3566160"/>
            <a:ext cx="5486400" cy="201168"/>
          </a:xfrm>
          <a:prstGeom prst="rect">
            <a:avLst/>
          </a:prstGeom>
          <a:noFill/>
          <a:ln/>
        </p:spPr>
        <p:txBody>
          <a:bodyPr wrap="square" lIns="0" tIns="0" rIns="0" bIns="0" rtlCol="0" anchor="t"/>
          <a:lstStyle/>
          <a:p>
            <a:pPr indent="0" marL="0">
              <a:buNone/>
            </a:pPr>
            <a:r>
              <a:rPr lang="en-US" sz="950" b="1" spc="150" kern="0" dirty="0">
                <a:solidFill>
                  <a:srgbClr val="0FA3B1"/>
                </a:solidFill>
                <a:latin typeface="Calibri" pitchFamily="34" charset="0"/>
                <a:ea typeface="Calibri" pitchFamily="34" charset="-122"/>
                <a:cs typeface="Calibri" pitchFamily="34" charset="-120"/>
              </a:rPr>
              <a:t>KEY ENDPOINTS</a:t>
            </a:r>
            <a:endParaRPr lang="en-US" sz="950" dirty="0"/>
          </a:p>
        </p:txBody>
      </p:sp>
      <p:sp>
        <p:nvSpPr>
          <p:cNvPr id="43" name="Shape 40"/>
          <p:cNvSpPr/>
          <p:nvPr/>
        </p:nvSpPr>
        <p:spPr>
          <a:xfrm>
            <a:off x="365760" y="3813048"/>
            <a:ext cx="2743200" cy="347472"/>
          </a:xfrm>
          <a:prstGeom prst="roundRect">
            <a:avLst>
              <a:gd name="adj" fmla="val 13158"/>
            </a:avLst>
          </a:prstGeom>
          <a:solidFill>
            <a:srgbClr val="F5F7FA"/>
          </a:solidFill>
          <a:ln w="9525">
            <a:solidFill>
              <a:srgbClr val="D3DCE5"/>
            </a:solidFill>
            <a:prstDash val="solid"/>
          </a:ln>
        </p:spPr>
      </p:sp>
      <p:sp>
        <p:nvSpPr>
          <p:cNvPr id="44" name="Text 41"/>
          <p:cNvSpPr txBox="1"/>
          <p:nvPr/>
        </p:nvSpPr>
        <p:spPr>
          <a:xfrm>
            <a:off x="365760" y="3813048"/>
            <a:ext cx="2743200" cy="347472"/>
          </a:xfrm>
          <a:prstGeom prst="rect">
            <a:avLst/>
          </a:prstGeom>
          <a:noFill/>
          <a:ln/>
        </p:spPr>
        <p:txBody>
          <a:bodyPr wrap="square" lIns="0" tIns="0" rIns="0" bIns="0" rtlCol="0" anchor="ctr"/>
          <a:lstStyle/>
          <a:p>
            <a:pPr algn="ctr" indent="0" marL="0">
              <a:buNone/>
            </a:pPr>
            <a:r>
              <a:rPr lang="en-US" sz="950" dirty="0">
                <a:solidFill>
                  <a:srgbClr val="1B2B3A"/>
                </a:solidFill>
                <a:latin typeface="Courier New" pitchFamily="34" charset="0"/>
                <a:ea typeface="Courier New" pitchFamily="34" charset="-122"/>
                <a:cs typeface="Courier New" pitchFamily="34" charset="-120"/>
              </a:rPr>
              <a:t>/trains</a:t>
            </a:r>
            <a:endParaRPr lang="en-US" sz="950" dirty="0"/>
          </a:p>
        </p:txBody>
      </p:sp>
      <p:sp>
        <p:nvSpPr>
          <p:cNvPr id="45" name="Shape 42"/>
          <p:cNvSpPr/>
          <p:nvPr/>
        </p:nvSpPr>
        <p:spPr>
          <a:xfrm>
            <a:off x="3200400" y="3813048"/>
            <a:ext cx="2743200" cy="347472"/>
          </a:xfrm>
          <a:prstGeom prst="roundRect">
            <a:avLst>
              <a:gd name="adj" fmla="val 13158"/>
            </a:avLst>
          </a:prstGeom>
          <a:solidFill>
            <a:srgbClr val="F5F7FA"/>
          </a:solidFill>
          <a:ln w="9525">
            <a:solidFill>
              <a:srgbClr val="D3DCE5"/>
            </a:solidFill>
            <a:prstDash val="solid"/>
          </a:ln>
        </p:spPr>
      </p:sp>
      <p:sp>
        <p:nvSpPr>
          <p:cNvPr id="46" name="Text 43"/>
          <p:cNvSpPr txBox="1"/>
          <p:nvPr/>
        </p:nvSpPr>
        <p:spPr>
          <a:xfrm>
            <a:off x="3200400" y="3813048"/>
            <a:ext cx="2743200" cy="347472"/>
          </a:xfrm>
          <a:prstGeom prst="rect">
            <a:avLst/>
          </a:prstGeom>
          <a:noFill/>
          <a:ln/>
        </p:spPr>
        <p:txBody>
          <a:bodyPr wrap="square" lIns="0" tIns="0" rIns="0" bIns="0" rtlCol="0" anchor="ctr"/>
          <a:lstStyle/>
          <a:p>
            <a:pPr algn="ctr" indent="0" marL="0">
              <a:buNone/>
            </a:pPr>
            <a:r>
              <a:rPr lang="en-US" sz="950" dirty="0">
                <a:solidFill>
                  <a:srgbClr val="1B2B3A"/>
                </a:solidFill>
                <a:latin typeface="Courier New" pitchFamily="34" charset="0"/>
                <a:ea typeface="Courier New" pitchFamily="34" charset="-122"/>
                <a:cs typeface="Courier New" pitchFamily="34" charset="-120"/>
              </a:rPr>
              <a:t>/train/{id}</a:t>
            </a:r>
            <a:endParaRPr lang="en-US" sz="950" dirty="0"/>
          </a:p>
        </p:txBody>
      </p:sp>
      <p:sp>
        <p:nvSpPr>
          <p:cNvPr id="47" name="Shape 44"/>
          <p:cNvSpPr/>
          <p:nvPr/>
        </p:nvSpPr>
        <p:spPr>
          <a:xfrm>
            <a:off x="6035040" y="3813048"/>
            <a:ext cx="2743200" cy="347472"/>
          </a:xfrm>
          <a:prstGeom prst="roundRect">
            <a:avLst>
              <a:gd name="adj" fmla="val 13158"/>
            </a:avLst>
          </a:prstGeom>
          <a:solidFill>
            <a:srgbClr val="F5F7FA"/>
          </a:solidFill>
          <a:ln w="9525">
            <a:solidFill>
              <a:srgbClr val="D3DCE5"/>
            </a:solidFill>
            <a:prstDash val="solid"/>
          </a:ln>
        </p:spPr>
      </p:sp>
      <p:sp>
        <p:nvSpPr>
          <p:cNvPr id="48" name="Text 45"/>
          <p:cNvSpPr txBox="1"/>
          <p:nvPr/>
        </p:nvSpPr>
        <p:spPr>
          <a:xfrm>
            <a:off x="6035040" y="3813048"/>
            <a:ext cx="2743200" cy="347472"/>
          </a:xfrm>
          <a:prstGeom prst="rect">
            <a:avLst/>
          </a:prstGeom>
          <a:noFill/>
          <a:ln/>
        </p:spPr>
        <p:txBody>
          <a:bodyPr wrap="square" lIns="0" tIns="0" rIns="0" bIns="0" rtlCol="0" anchor="ctr"/>
          <a:lstStyle/>
          <a:p>
            <a:pPr algn="ctr" indent="0" marL="0">
              <a:buNone/>
            </a:pPr>
            <a:r>
              <a:rPr lang="en-US" sz="950" dirty="0">
                <a:solidFill>
                  <a:srgbClr val="1B2B3A"/>
                </a:solidFill>
                <a:latin typeface="Courier New" pitchFamily="34" charset="0"/>
                <a:ea typeface="Courier New" pitchFamily="34" charset="-122"/>
                <a:cs typeface="Courier New" pitchFamily="34" charset="-120"/>
              </a:rPr>
              <a:t>/train/{id}/eta/{code}</a:t>
            </a:r>
            <a:endParaRPr lang="en-US" sz="950" dirty="0"/>
          </a:p>
        </p:txBody>
      </p:sp>
      <p:sp>
        <p:nvSpPr>
          <p:cNvPr id="49" name="Shape 46"/>
          <p:cNvSpPr/>
          <p:nvPr/>
        </p:nvSpPr>
        <p:spPr>
          <a:xfrm>
            <a:off x="365760" y="4251960"/>
            <a:ext cx="2743200" cy="347472"/>
          </a:xfrm>
          <a:prstGeom prst="roundRect">
            <a:avLst>
              <a:gd name="adj" fmla="val 13158"/>
            </a:avLst>
          </a:prstGeom>
          <a:solidFill>
            <a:srgbClr val="F5F7FA"/>
          </a:solidFill>
          <a:ln w="9525">
            <a:solidFill>
              <a:srgbClr val="D3DCE5"/>
            </a:solidFill>
            <a:prstDash val="solid"/>
          </a:ln>
        </p:spPr>
      </p:sp>
      <p:sp>
        <p:nvSpPr>
          <p:cNvPr id="50" name="Text 47"/>
          <p:cNvSpPr txBox="1"/>
          <p:nvPr/>
        </p:nvSpPr>
        <p:spPr>
          <a:xfrm>
            <a:off x="365760" y="4251960"/>
            <a:ext cx="2743200" cy="347472"/>
          </a:xfrm>
          <a:prstGeom prst="rect">
            <a:avLst/>
          </a:prstGeom>
          <a:noFill/>
          <a:ln/>
        </p:spPr>
        <p:txBody>
          <a:bodyPr wrap="square" lIns="0" tIns="0" rIns="0" bIns="0" rtlCol="0" anchor="ctr"/>
          <a:lstStyle/>
          <a:p>
            <a:pPr algn="ctr" indent="0" marL="0">
              <a:buNone/>
            </a:pPr>
            <a:r>
              <a:rPr lang="en-US" sz="950" dirty="0">
                <a:solidFill>
                  <a:srgbClr val="1B2B3A"/>
                </a:solidFill>
                <a:latin typeface="Courier New" pitchFamily="34" charset="0"/>
                <a:ea typeface="Courier New" pitchFamily="34" charset="-122"/>
                <a:cs typeface="Courier New" pitchFamily="34" charset="-120"/>
              </a:rPr>
              <a:t>/station/{code}/arrivals</a:t>
            </a:r>
            <a:endParaRPr lang="en-US" sz="950" dirty="0"/>
          </a:p>
        </p:txBody>
      </p:sp>
      <p:sp>
        <p:nvSpPr>
          <p:cNvPr id="51" name="Shape 48"/>
          <p:cNvSpPr/>
          <p:nvPr/>
        </p:nvSpPr>
        <p:spPr>
          <a:xfrm>
            <a:off x="3200400" y="4251960"/>
            <a:ext cx="2743200" cy="347472"/>
          </a:xfrm>
          <a:prstGeom prst="roundRect">
            <a:avLst>
              <a:gd name="adj" fmla="val 13158"/>
            </a:avLst>
          </a:prstGeom>
          <a:solidFill>
            <a:srgbClr val="F5F7FA"/>
          </a:solidFill>
          <a:ln w="9525">
            <a:solidFill>
              <a:srgbClr val="D3DCE5"/>
            </a:solidFill>
            <a:prstDash val="solid"/>
          </a:ln>
        </p:spPr>
      </p:sp>
      <p:sp>
        <p:nvSpPr>
          <p:cNvPr id="52" name="Text 49"/>
          <p:cNvSpPr txBox="1"/>
          <p:nvPr/>
        </p:nvSpPr>
        <p:spPr>
          <a:xfrm>
            <a:off x="3200400" y="4251960"/>
            <a:ext cx="2743200" cy="347472"/>
          </a:xfrm>
          <a:prstGeom prst="rect">
            <a:avLst/>
          </a:prstGeom>
          <a:noFill/>
          <a:ln/>
        </p:spPr>
        <p:txBody>
          <a:bodyPr wrap="square" lIns="0" tIns="0" rIns="0" bIns="0" rtlCol="0" anchor="ctr"/>
          <a:lstStyle/>
          <a:p>
            <a:pPr algn="ctr" indent="0" marL="0">
              <a:buNone/>
            </a:pPr>
            <a:r>
              <a:rPr lang="en-US" sz="950" dirty="0">
                <a:solidFill>
                  <a:srgbClr val="1B2B3A"/>
                </a:solidFill>
                <a:latin typeface="Courier New" pitchFamily="34" charset="0"/>
                <a:ea typeface="Courier New" pitchFamily="34" charset="-122"/>
                <a:cs typeface="Courier New" pitchFamily="34" charset="-120"/>
              </a:rPr>
              <a:t>POST /simulate/event</a:t>
            </a:r>
            <a:endParaRPr lang="en-US" sz="950" dirty="0"/>
          </a:p>
        </p:txBody>
      </p:sp>
      <p:sp>
        <p:nvSpPr>
          <p:cNvPr id="53" name="Shape 50"/>
          <p:cNvSpPr/>
          <p:nvPr/>
        </p:nvSpPr>
        <p:spPr>
          <a:xfrm>
            <a:off x="6035040" y="4251960"/>
            <a:ext cx="2743200" cy="347472"/>
          </a:xfrm>
          <a:prstGeom prst="roundRect">
            <a:avLst>
              <a:gd name="adj" fmla="val 13158"/>
            </a:avLst>
          </a:prstGeom>
          <a:solidFill>
            <a:srgbClr val="F5F7FA"/>
          </a:solidFill>
          <a:ln w="9525">
            <a:solidFill>
              <a:srgbClr val="D3DCE5"/>
            </a:solidFill>
            <a:prstDash val="solid"/>
          </a:ln>
        </p:spPr>
      </p:sp>
      <p:sp>
        <p:nvSpPr>
          <p:cNvPr id="54" name="Text 51"/>
          <p:cNvSpPr txBox="1"/>
          <p:nvPr/>
        </p:nvSpPr>
        <p:spPr>
          <a:xfrm>
            <a:off x="6035040" y="4251960"/>
            <a:ext cx="2743200" cy="347472"/>
          </a:xfrm>
          <a:prstGeom prst="rect">
            <a:avLst/>
          </a:prstGeom>
          <a:noFill/>
          <a:ln/>
        </p:spPr>
        <p:txBody>
          <a:bodyPr wrap="square" lIns="0" tIns="0" rIns="0" bIns="0" rtlCol="0" anchor="ctr"/>
          <a:lstStyle/>
          <a:p>
            <a:pPr algn="ctr" indent="0" marL="0">
              <a:buNone/>
            </a:pPr>
            <a:r>
              <a:rPr lang="en-US" sz="950" dirty="0">
                <a:solidFill>
                  <a:srgbClr val="1B2B3A"/>
                </a:solidFill>
                <a:latin typeface="Courier New" pitchFamily="34" charset="0"/>
                <a:ea typeface="Courier New" pitchFamily="34" charset="-122"/>
                <a:cs typeface="Courier New" pitchFamily="34" charset="-120"/>
              </a:rPr>
              <a:t>/model/metrics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B1F33"/>
          </a:solidFill>
          <a:ln w="12700">
            <a:solidFill>
              <a:srgbClr val="0B1F33"/>
            </a:solidFill>
            <a:prstDash val="solid"/>
          </a:ln>
        </p:spPr>
      </p:sp>
      <p:sp>
        <p:nvSpPr>
          <p:cNvPr id="3" name="Shape 1"/>
          <p:cNvSpPr/>
          <p:nvPr/>
        </p:nvSpPr>
        <p:spPr>
          <a:xfrm>
            <a:off x="365760" y="173736"/>
            <a:ext cx="91440" cy="219456"/>
          </a:xfrm>
          <a:prstGeom prst="rect">
            <a:avLst/>
          </a:prstGeom>
          <a:solidFill>
            <a:srgbClr val="F2A541"/>
          </a:solidFill>
          <a:ln w="12700">
            <a:solidFill>
              <a:srgbClr val="F2A541"/>
            </a:solidFill>
            <a:prstDash val="solid"/>
          </a:ln>
        </p:spPr>
      </p:sp>
      <p:sp>
        <p:nvSpPr>
          <p:cNvPr id="4" name="Text 2"/>
          <p:cNvSpPr txBox="1"/>
          <p:nvPr/>
        </p:nvSpPr>
        <p:spPr>
          <a:xfrm>
            <a:off x="594360" y="82296"/>
            <a:ext cx="7863840" cy="402336"/>
          </a:xfrm>
          <a:prstGeom prst="rect">
            <a:avLst/>
          </a:prstGeom>
          <a:noFill/>
          <a:ln/>
        </p:spPr>
        <p:txBody>
          <a:bodyPr wrap="square" lIns="0" tIns="0" rIns="0" bIns="0" rtlCol="0" anchor="ctr"/>
          <a:lstStyle/>
          <a:p>
            <a:pPr indent="0" marL="0">
              <a:buNone/>
            </a:pPr>
            <a:r>
              <a:rPr lang="en-US" sz="1600" b="1" spc="100" kern="0" dirty="0">
                <a:solidFill>
                  <a:srgbClr val="FFFFFF"/>
                </a:solidFill>
                <a:latin typeface="Calibri" pitchFamily="34" charset="0"/>
                <a:ea typeface="Calibri" pitchFamily="34" charset="-122"/>
                <a:cs typeface="Calibri" pitchFamily="34" charset="-120"/>
              </a:rPr>
              <a:t>CONCLUSION &amp; FUTURE SCOPE</a:t>
            </a:r>
            <a:endParaRPr lang="en-US" sz="1600" dirty="0"/>
          </a:p>
        </p:txBody>
      </p:sp>
      <p:sp>
        <p:nvSpPr>
          <p:cNvPr id="5" name="Text 3"/>
          <p:cNvSpPr txBox="1"/>
          <p:nvPr/>
        </p:nvSpPr>
        <p:spPr>
          <a:xfrm>
            <a:off x="365760" y="4846320"/>
            <a:ext cx="5486400" cy="201168"/>
          </a:xfrm>
          <a:prstGeom prst="rect">
            <a:avLst/>
          </a:prstGeom>
          <a:noFill/>
          <a:ln/>
        </p:spPr>
        <p:txBody>
          <a:bodyPr wrap="square" lIns="0" tIns="0" rIns="0" bIns="0" rtlCol="0" anchor="t"/>
          <a:lstStyle/>
          <a:p>
            <a:pPr indent="0" marL="0">
              <a:buNone/>
            </a:pPr>
            <a:r>
              <a:rPr lang="en-US" sz="850" dirty="0">
                <a:solidFill>
                  <a:srgbClr val="5B6B7B"/>
                </a:solidFill>
                <a:latin typeface="Calibri" pitchFamily="34" charset="0"/>
                <a:ea typeface="Calibri" pitchFamily="34" charset="-122"/>
                <a:cs typeface="Calibri" pitchFamily="34" charset="-120"/>
              </a:rPr>
              <a:t>Dynamic ETA Forecasting Engine  |  Alva’s Institute of Engineering &amp; Technology</a:t>
            </a:r>
            <a:endParaRPr lang="en-US" sz="850" dirty="0"/>
          </a:p>
        </p:txBody>
      </p:sp>
      <p:sp>
        <p:nvSpPr>
          <p:cNvPr id="6" name="Text 4"/>
          <p:cNvSpPr txBox="1"/>
          <p:nvPr/>
        </p:nvSpPr>
        <p:spPr>
          <a:xfrm>
            <a:off x="7863840" y="4846320"/>
            <a:ext cx="914400" cy="201168"/>
          </a:xfrm>
          <a:prstGeom prst="rect">
            <a:avLst/>
          </a:prstGeom>
          <a:noFill/>
          <a:ln/>
        </p:spPr>
        <p:txBody>
          <a:bodyPr wrap="square" lIns="0" tIns="0" rIns="0" bIns="0" rtlCol="0" anchor="t"/>
          <a:lstStyle/>
          <a:p>
            <a:pPr algn="r" indent="0" marL="0">
              <a:buNone/>
            </a:pPr>
            <a:r>
              <a:rPr lang="en-US" sz="850" dirty="0">
                <a:solidFill>
                  <a:srgbClr val="5B6B7B"/>
                </a:solidFill>
                <a:latin typeface="Calibri" pitchFamily="34" charset="0"/>
                <a:ea typeface="Calibri" pitchFamily="34" charset="-122"/>
                <a:cs typeface="Calibri" pitchFamily="34" charset="-120"/>
              </a:rPr>
              <a:t>8 / 9</a:t>
            </a:r>
            <a:endParaRPr lang="en-US" sz="850" dirty="0"/>
          </a:p>
        </p:txBody>
      </p:sp>
      <p:sp>
        <p:nvSpPr>
          <p:cNvPr id="8" name="Text 5"/>
          <p:cNvSpPr txBox="1"/>
          <p:nvPr/>
        </p:nvSpPr>
        <p:spPr>
          <a:xfrm>
            <a:off x="365760" y="694944"/>
            <a:ext cx="3657600" cy="201168"/>
          </a:xfrm>
          <a:prstGeom prst="rect">
            <a:avLst/>
          </a:prstGeom>
          <a:noFill/>
          <a:ln/>
        </p:spPr>
        <p:txBody>
          <a:bodyPr wrap="square" lIns="0" tIns="0" rIns="0" bIns="0" rtlCol="0" anchor="t"/>
          <a:lstStyle/>
          <a:p>
            <a:pPr indent="0" marL="0">
              <a:buNone/>
            </a:pPr>
            <a:r>
              <a:rPr lang="en-US" sz="950" b="1" spc="150" kern="0" dirty="0">
                <a:solidFill>
                  <a:srgbClr val="0FA3B1"/>
                </a:solidFill>
                <a:latin typeface="Calibri" pitchFamily="34" charset="0"/>
                <a:ea typeface="Calibri" pitchFamily="34" charset="-122"/>
                <a:cs typeface="Calibri" pitchFamily="34" charset="-120"/>
              </a:rPr>
              <a:t>CONCLUSION</a:t>
            </a:r>
            <a:endParaRPr lang="en-US" sz="950" dirty="0"/>
          </a:p>
        </p:txBody>
      </p:sp>
      <p:sp>
        <p:nvSpPr>
          <p:cNvPr id="9" name="Shape 6"/>
          <p:cNvSpPr/>
          <p:nvPr/>
        </p:nvSpPr>
        <p:spPr>
          <a:xfrm>
            <a:off x="365760" y="932688"/>
            <a:ext cx="4480560" cy="841248"/>
          </a:xfrm>
          <a:prstGeom prst="roundRect">
            <a:avLst>
              <a:gd name="adj" fmla="val 5435"/>
            </a:avLst>
          </a:prstGeom>
          <a:solidFill>
            <a:srgbClr val="FFFFFF"/>
          </a:solidFill>
          <a:ln w="9525">
            <a:solidFill>
              <a:srgbClr val="D3DCE5"/>
            </a:solidFill>
            <a:prstDash val="solid"/>
          </a:ln>
        </p:spPr>
      </p:sp>
      <p:sp>
        <p:nvSpPr>
          <p:cNvPr id="10" name="Shape 7"/>
          <p:cNvSpPr/>
          <p:nvPr/>
        </p:nvSpPr>
        <p:spPr>
          <a:xfrm>
            <a:off x="502920" y="1188720"/>
            <a:ext cx="329184" cy="329184"/>
          </a:xfrm>
          <a:prstGeom prst="ellipse">
            <a:avLst/>
          </a:prstGeom>
          <a:solidFill>
            <a:srgbClr val="0FA3B1"/>
          </a:solidFill>
          <a:ln w="12700">
            <a:solidFill>
              <a:srgbClr val="0FA3B1"/>
            </a:solidFill>
            <a:prstDash val="solid"/>
          </a:ln>
        </p:spPr>
      </p:sp>
      <p:sp>
        <p:nvSpPr>
          <p:cNvPr id="11" name="Text 8"/>
          <p:cNvSpPr txBox="1"/>
          <p:nvPr/>
        </p:nvSpPr>
        <p:spPr>
          <a:xfrm>
            <a:off x="502920" y="11887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9"/>
          <p:cNvSpPr txBox="1"/>
          <p:nvPr/>
        </p:nvSpPr>
        <p:spPr>
          <a:xfrm>
            <a:off x="1005840" y="987552"/>
            <a:ext cx="3749040" cy="731520"/>
          </a:xfrm>
          <a:prstGeom prst="rect">
            <a:avLst/>
          </a:prstGeom>
          <a:noFill/>
          <a:ln/>
        </p:spPr>
        <p:txBody>
          <a:bodyPr wrap="square" lIns="0" tIns="0" rIns="0" bIns="0" rtlCol="0" anchor="ctr"/>
          <a:lstStyle/>
          <a:p>
            <a:pPr indent="0" marL="0">
              <a:buNone/>
            </a:pPr>
            <a:r>
              <a:rPr lang="en-US" sz="1100" dirty="0">
                <a:solidFill>
                  <a:srgbClr val="1B2B3A"/>
                </a:solidFill>
                <a:latin typeface="Calibri" pitchFamily="34" charset="0"/>
                <a:ea typeface="Calibri" pitchFamily="34" charset="-122"/>
                <a:cs typeface="Calibri" pitchFamily="34" charset="-120"/>
              </a:rPr>
              <a:t>ML cuts ETA error by 61.9% overall (MAE 74.1 to 28.3 min) and wins at every horizon and regime.</a:t>
            </a:r>
            <a:endParaRPr lang="en-US" sz="1100" dirty="0"/>
          </a:p>
        </p:txBody>
      </p:sp>
      <p:sp>
        <p:nvSpPr>
          <p:cNvPr id="13" name="Shape 10"/>
          <p:cNvSpPr/>
          <p:nvPr/>
        </p:nvSpPr>
        <p:spPr>
          <a:xfrm>
            <a:off x="365760" y="1865376"/>
            <a:ext cx="4480560" cy="841248"/>
          </a:xfrm>
          <a:prstGeom prst="roundRect">
            <a:avLst>
              <a:gd name="adj" fmla="val 5435"/>
            </a:avLst>
          </a:prstGeom>
          <a:solidFill>
            <a:srgbClr val="FFFFFF"/>
          </a:solidFill>
          <a:ln w="9525">
            <a:solidFill>
              <a:srgbClr val="D3DCE5"/>
            </a:solidFill>
            <a:prstDash val="solid"/>
          </a:ln>
        </p:spPr>
      </p:sp>
      <p:sp>
        <p:nvSpPr>
          <p:cNvPr id="14" name="Shape 11"/>
          <p:cNvSpPr/>
          <p:nvPr/>
        </p:nvSpPr>
        <p:spPr>
          <a:xfrm>
            <a:off x="502920" y="2121408"/>
            <a:ext cx="329184" cy="329184"/>
          </a:xfrm>
          <a:prstGeom prst="ellipse">
            <a:avLst/>
          </a:prstGeom>
          <a:solidFill>
            <a:srgbClr val="0FA3B1"/>
          </a:solidFill>
          <a:ln w="12700">
            <a:solidFill>
              <a:srgbClr val="0FA3B1"/>
            </a:solidFill>
            <a:prstDash val="solid"/>
          </a:ln>
        </p:spPr>
      </p:sp>
      <p:sp>
        <p:nvSpPr>
          <p:cNvPr id="15" name="Text 12"/>
          <p:cNvSpPr txBox="1"/>
          <p:nvPr/>
        </p:nvSpPr>
        <p:spPr>
          <a:xfrm>
            <a:off x="502920" y="2121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1005840" y="1920240"/>
            <a:ext cx="3749040" cy="731520"/>
          </a:xfrm>
          <a:prstGeom prst="rect">
            <a:avLst/>
          </a:prstGeom>
          <a:noFill/>
          <a:ln/>
        </p:spPr>
        <p:txBody>
          <a:bodyPr wrap="square" lIns="0" tIns="0" rIns="0" bIns="0" rtlCol="0" anchor="ctr"/>
          <a:lstStyle/>
          <a:p>
            <a:pPr indent="0" marL="0">
              <a:buNone/>
            </a:pPr>
            <a:r>
              <a:rPr lang="en-US" sz="1100" dirty="0">
                <a:solidFill>
                  <a:srgbClr val="1B2B3A"/>
                </a:solidFill>
                <a:latin typeface="Calibri" pitchFamily="34" charset="0"/>
                <a:ea typeface="Calibri" pitchFamily="34" charset="-122"/>
                <a:cs typeface="Calibri" pitchFamily="34" charset="-120"/>
              </a:rPr>
              <a:t>Inject a disruption and the train state and both ETAs update immediately.</a:t>
            </a:r>
            <a:endParaRPr lang="en-US" sz="1100" dirty="0"/>
          </a:p>
        </p:txBody>
      </p:sp>
      <p:sp>
        <p:nvSpPr>
          <p:cNvPr id="17" name="Shape 14"/>
          <p:cNvSpPr/>
          <p:nvPr/>
        </p:nvSpPr>
        <p:spPr>
          <a:xfrm>
            <a:off x="365760" y="2798064"/>
            <a:ext cx="4480560" cy="841248"/>
          </a:xfrm>
          <a:prstGeom prst="roundRect">
            <a:avLst>
              <a:gd name="adj" fmla="val 5435"/>
            </a:avLst>
          </a:prstGeom>
          <a:solidFill>
            <a:srgbClr val="FFFFFF"/>
          </a:solidFill>
          <a:ln w="9525">
            <a:solidFill>
              <a:srgbClr val="D3DCE5"/>
            </a:solidFill>
            <a:prstDash val="solid"/>
          </a:ln>
        </p:spPr>
      </p:sp>
      <p:sp>
        <p:nvSpPr>
          <p:cNvPr id="18" name="Shape 15"/>
          <p:cNvSpPr/>
          <p:nvPr/>
        </p:nvSpPr>
        <p:spPr>
          <a:xfrm>
            <a:off x="502920" y="3054096"/>
            <a:ext cx="329184" cy="329184"/>
          </a:xfrm>
          <a:prstGeom prst="ellipse">
            <a:avLst/>
          </a:prstGeom>
          <a:solidFill>
            <a:srgbClr val="0FA3B1"/>
          </a:solidFill>
          <a:ln w="12700">
            <a:solidFill>
              <a:srgbClr val="0FA3B1"/>
            </a:solidFill>
            <a:prstDash val="solid"/>
          </a:ln>
        </p:spPr>
      </p:sp>
      <p:sp>
        <p:nvSpPr>
          <p:cNvPr id="19" name="Text 16"/>
          <p:cNvSpPr txBox="1"/>
          <p:nvPr/>
        </p:nvSpPr>
        <p:spPr>
          <a:xfrm>
            <a:off x="502920" y="30540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txBox="1"/>
          <p:nvPr/>
        </p:nvSpPr>
        <p:spPr>
          <a:xfrm>
            <a:off x="1005840" y="2852928"/>
            <a:ext cx="3749040" cy="731520"/>
          </a:xfrm>
          <a:prstGeom prst="rect">
            <a:avLst/>
          </a:prstGeom>
          <a:noFill/>
          <a:ln/>
        </p:spPr>
        <p:txBody>
          <a:bodyPr wrap="square" lIns="0" tIns="0" rIns="0" bIns="0" rtlCol="0" anchor="ctr"/>
          <a:lstStyle/>
          <a:p>
            <a:pPr indent="0" marL="0">
              <a:buNone/>
            </a:pPr>
            <a:r>
              <a:rPr lang="en-US" sz="1100" dirty="0">
                <a:solidFill>
                  <a:srgbClr val="1B2B3A"/>
                </a:solidFill>
                <a:latin typeface="Calibri" pitchFamily="34" charset="0"/>
                <a:ea typeface="Calibri" pitchFamily="34" charset="-122"/>
                <a:cs typeface="Calibri" pitchFamily="34" charset="-120"/>
              </a:rPr>
              <a:t>One typed API feeds four screens and is covered by 150+ automated tests.</a:t>
            </a:r>
            <a:endParaRPr lang="en-US" sz="1100" dirty="0"/>
          </a:p>
        </p:txBody>
      </p:sp>
      <p:sp>
        <p:nvSpPr>
          <p:cNvPr id="21" name="Shape 18"/>
          <p:cNvSpPr/>
          <p:nvPr/>
        </p:nvSpPr>
        <p:spPr>
          <a:xfrm>
            <a:off x="365760" y="3794760"/>
            <a:ext cx="4480560" cy="914400"/>
          </a:xfrm>
          <a:prstGeom prst="roundRect">
            <a:avLst>
              <a:gd name="adj" fmla="val 5000"/>
            </a:avLst>
          </a:prstGeom>
          <a:solidFill>
            <a:srgbClr val="0B1F33"/>
          </a:solidFill>
          <a:ln w="12700">
            <a:solidFill>
              <a:srgbClr val="0B1F33"/>
            </a:solidFill>
            <a:prstDash val="solid"/>
          </a:ln>
        </p:spPr>
      </p:sp>
      <p:sp>
        <p:nvSpPr>
          <p:cNvPr id="22" name="Text 19"/>
          <p:cNvSpPr txBox="1"/>
          <p:nvPr/>
        </p:nvSpPr>
        <p:spPr>
          <a:xfrm>
            <a:off x="365760" y="3794760"/>
            <a:ext cx="4480560" cy="9144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Better ETAs, live, from one system.</a:t>
            </a:r>
            <a:endParaRPr lang="en-US" sz="1600" dirty="0"/>
          </a:p>
        </p:txBody>
      </p:sp>
      <p:sp>
        <p:nvSpPr>
          <p:cNvPr id="23" name="Text 20"/>
          <p:cNvSpPr txBox="1"/>
          <p:nvPr/>
        </p:nvSpPr>
        <p:spPr>
          <a:xfrm>
            <a:off x="5120640" y="694944"/>
            <a:ext cx="3657600" cy="201168"/>
          </a:xfrm>
          <a:prstGeom prst="rect">
            <a:avLst/>
          </a:prstGeom>
          <a:noFill/>
          <a:ln/>
        </p:spPr>
        <p:txBody>
          <a:bodyPr wrap="square" lIns="0" tIns="0" rIns="0" bIns="0" rtlCol="0" anchor="t"/>
          <a:lstStyle/>
          <a:p>
            <a:pPr indent="0" marL="0">
              <a:buNone/>
            </a:pPr>
            <a:r>
              <a:rPr lang="en-US" sz="950" b="1" spc="150" kern="0" dirty="0">
                <a:solidFill>
                  <a:srgbClr val="F2A541"/>
                </a:solidFill>
                <a:latin typeface="Calibri" pitchFamily="34" charset="0"/>
                <a:ea typeface="Calibri" pitchFamily="34" charset="-122"/>
                <a:cs typeface="Calibri" pitchFamily="34" charset="-120"/>
              </a:rPr>
              <a:t>LIMITS</a:t>
            </a:r>
            <a:endParaRPr lang="en-US" sz="950" dirty="0"/>
          </a:p>
        </p:txBody>
      </p:sp>
      <p:sp>
        <p:nvSpPr>
          <p:cNvPr id="24" name="Shape 21"/>
          <p:cNvSpPr/>
          <p:nvPr/>
        </p:nvSpPr>
        <p:spPr>
          <a:xfrm>
            <a:off x="5120640" y="932688"/>
            <a:ext cx="3657600" cy="1371600"/>
          </a:xfrm>
          <a:prstGeom prst="roundRect">
            <a:avLst>
              <a:gd name="adj" fmla="val 3333"/>
            </a:avLst>
          </a:prstGeom>
          <a:solidFill>
            <a:srgbClr val="FFF6E8"/>
          </a:solidFill>
          <a:ln w="9525">
            <a:solidFill>
              <a:srgbClr val="F2A541"/>
            </a:solidFill>
            <a:prstDash val="solid"/>
          </a:ln>
        </p:spPr>
      </p:sp>
      <p:sp>
        <p:nvSpPr>
          <p:cNvPr id="25" name="Text 22"/>
          <p:cNvSpPr txBox="1"/>
          <p:nvPr/>
        </p:nvSpPr>
        <p:spPr>
          <a:xfrm>
            <a:off x="5276088" y="1005840"/>
            <a:ext cx="3383280" cy="1225296"/>
          </a:xfrm>
          <a:prstGeom prst="rect">
            <a:avLst/>
          </a:prstGeom>
          <a:noFill/>
          <a:ln/>
        </p:spPr>
        <p:txBody>
          <a:bodyPr wrap="square" lIns="0" tIns="0" rIns="0" bIns="0" rtlCol="0" anchor="ctr"/>
          <a:lstStyle/>
          <a:p>
            <a:pPr indent="0" marL="0">
              <a:buNone/>
            </a:pPr>
            <a:r>
              <a:rPr lang="en-US" sz="1100" dirty="0">
                <a:solidFill>
                  <a:srgbClr val="1B2B3A"/>
                </a:solidFill>
                <a:latin typeface="Calibri" pitchFamily="34" charset="0"/>
                <a:ea typeface="Calibri" pitchFamily="34" charset="-122"/>
                <a:cs typeface="Calibri" pitchFamily="34" charset="-120"/>
              </a:rPr>
              <a:t>Results use 200 simulated journeys, not real Indian Railways logs, and the confidence band is an uncalibrated heuristic.</a:t>
            </a:r>
            <a:endParaRPr lang="en-US" sz="1100" dirty="0"/>
          </a:p>
        </p:txBody>
      </p:sp>
      <p:sp>
        <p:nvSpPr>
          <p:cNvPr id="26" name="Text 23"/>
          <p:cNvSpPr txBox="1"/>
          <p:nvPr/>
        </p:nvSpPr>
        <p:spPr>
          <a:xfrm>
            <a:off x="5120640" y="2487168"/>
            <a:ext cx="3657600" cy="201168"/>
          </a:xfrm>
          <a:prstGeom prst="rect">
            <a:avLst/>
          </a:prstGeom>
          <a:noFill/>
          <a:ln/>
        </p:spPr>
        <p:txBody>
          <a:bodyPr wrap="square" lIns="0" tIns="0" rIns="0" bIns="0" rtlCol="0" anchor="t"/>
          <a:lstStyle/>
          <a:p>
            <a:pPr indent="0" marL="0">
              <a:buNone/>
            </a:pPr>
            <a:r>
              <a:rPr lang="en-US" sz="950" b="1" spc="150" kern="0" dirty="0">
                <a:solidFill>
                  <a:srgbClr val="0FA3B1"/>
                </a:solidFill>
                <a:latin typeface="Calibri" pitchFamily="34" charset="0"/>
                <a:ea typeface="Calibri" pitchFamily="34" charset="-122"/>
                <a:cs typeface="Calibri" pitchFamily="34" charset="-120"/>
              </a:rPr>
              <a:t>NEXT STEPS</a:t>
            </a:r>
            <a:endParaRPr lang="en-US" sz="950" dirty="0"/>
          </a:p>
        </p:txBody>
      </p:sp>
      <p:sp>
        <p:nvSpPr>
          <p:cNvPr id="27" name="Shape 24"/>
          <p:cNvSpPr/>
          <p:nvPr/>
        </p:nvSpPr>
        <p:spPr>
          <a:xfrm>
            <a:off x="5120640" y="2724912"/>
            <a:ext cx="3657600" cy="1984248"/>
          </a:xfrm>
          <a:prstGeom prst="roundRect">
            <a:avLst>
              <a:gd name="adj" fmla="val 2304"/>
            </a:avLst>
          </a:prstGeom>
          <a:solidFill>
            <a:srgbClr val="FFFFFF"/>
          </a:solidFill>
          <a:ln w="9525">
            <a:solidFill>
              <a:srgbClr val="D3DCE5"/>
            </a:solidFill>
            <a:prstDash val="solid"/>
          </a:ln>
        </p:spPr>
      </p:sp>
      <p:sp>
        <p:nvSpPr>
          <p:cNvPr id="28" name="Text 25"/>
          <p:cNvSpPr txBox="1"/>
          <p:nvPr/>
        </p:nvSpPr>
        <p:spPr>
          <a:xfrm>
            <a:off x="5303520" y="2834640"/>
            <a:ext cx="3337560" cy="1783080"/>
          </a:xfrm>
          <a:prstGeom prst="rect">
            <a:avLst/>
          </a:prstGeom>
          <a:noFill/>
          <a:ln/>
        </p:spPr>
        <p:txBody>
          <a:bodyPr wrap="square" lIns="0" tIns="0" rIns="0" bIns="0" rtlCol="0" anchor="ctr"/>
          <a:lstStyle/>
          <a:p>
            <a:pPr marL="177800" indent="-177800">
              <a:spcAft>
                <a:spcPts val="1000"/>
              </a:spcAft>
              <a:buSzPct val="100000"/>
              <a:buChar char="•"/>
            </a:pPr>
            <a:r>
              <a:rPr lang="en-US" sz="1150" dirty="0">
                <a:solidFill>
                  <a:srgbClr val="1B2B3A"/>
                </a:solidFill>
                <a:latin typeface="Calibri" pitchFamily="34" charset="0"/>
                <a:ea typeface="Calibri" pitchFamily="34" charset="-122"/>
                <a:cs typeface="Calibri" pitchFamily="34" charset="-120"/>
              </a:rPr>
              <a:t>Real running logs</a:t>
            </a:r>
            <a:endParaRPr lang="en-US" sz="1150" dirty="0"/>
          </a:p>
          <a:p>
            <a:pPr marL="177800" indent="-177800">
              <a:spcAft>
                <a:spcPts val="1000"/>
              </a:spcAft>
              <a:buSzPct val="100000"/>
              <a:buChar char="•"/>
            </a:pPr>
            <a:r>
              <a:rPr lang="en-US" sz="1150" dirty="0">
                <a:solidFill>
                  <a:srgbClr val="1B2B3A"/>
                </a:solidFill>
                <a:latin typeface="Calibri" pitchFamily="34" charset="0"/>
                <a:ea typeface="Calibri" pitchFamily="34" charset="-122"/>
                <a:cs typeface="Calibri" pitchFamily="34" charset="-120"/>
              </a:rPr>
              <a:t>Calibrated intervals</a:t>
            </a:r>
            <a:endParaRPr lang="en-US" sz="1150" dirty="0"/>
          </a:p>
          <a:p>
            <a:pPr marL="177800" indent="-177800">
              <a:spcAft>
                <a:spcPts val="1000"/>
              </a:spcAft>
              <a:buSzPct val="100000"/>
              <a:buChar char="•"/>
            </a:pPr>
            <a:r>
              <a:rPr lang="en-US" sz="1150" dirty="0">
                <a:solidFill>
                  <a:srgbClr val="1B2B3A"/>
                </a:solidFill>
                <a:latin typeface="Calibri" pitchFamily="34" charset="0"/>
                <a:ea typeface="Calibri" pitchFamily="34" charset="-122"/>
                <a:cs typeface="Calibri" pitchFamily="34" charset="-120"/>
              </a:rPr>
              <a:t>Cross-train delay effects</a:t>
            </a:r>
            <a:endParaRPr lang="en-US" sz="1150" dirty="0"/>
          </a:p>
          <a:p>
            <a:pPr marL="177800" indent="-177800">
              <a:spcAft>
                <a:spcPts val="1000"/>
              </a:spcAft>
              <a:buSzPct val="100000"/>
              <a:buChar char="•"/>
            </a:pPr>
            <a:r>
              <a:rPr lang="en-US" sz="1150" dirty="0">
                <a:solidFill>
                  <a:srgbClr val="1B2B3A"/>
                </a:solidFill>
                <a:latin typeface="Calibri" pitchFamily="34" charset="0"/>
                <a:ea typeface="Calibri" pitchFamily="34" charset="-122"/>
                <a:cs typeface="Calibri" pitchFamily="34" charset="-120"/>
              </a:rPr>
              <a:t>Authentication and load testing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3794760" y="365760"/>
            <a:ext cx="1554480" cy="1828800"/>
          </a:xfrm>
          <a:prstGeom prst="roundRect">
            <a:avLst>
              <a:gd name="adj" fmla="val 4706"/>
            </a:avLst>
          </a:prstGeom>
          <a:solidFill>
            <a:srgbClr val="FFFFFF"/>
          </a:solidFill>
          <a:ln w="12700">
            <a:solidFill>
              <a:srgbClr val="FFFFFF"/>
            </a:solidFill>
            <a:prstDash val="solid"/>
          </a:ln>
        </p:spPr>
      </p:sp>
      <p:pic>
        <p:nvPicPr>
          <p:cNvPr id="3" name="Image 0" descr="logo.png">    </p:cNvPr>
          <p:cNvPicPr>
            <a:picLocks noChangeAspect="1"/>
          </p:cNvPicPr>
          <p:nvPr/>
        </p:nvPicPr>
        <p:blipFill>
          <a:blip r:embed="rId1"/>
          <a:stretch>
            <a:fillRect/>
          </a:stretch>
        </p:blipFill>
        <p:spPr>
          <a:xfrm>
            <a:off x="3995928" y="502920"/>
            <a:ext cx="1152144" cy="1389888"/>
          </a:xfrm>
          <a:prstGeom prst="rect">
            <a:avLst/>
          </a:prstGeom>
        </p:spPr>
      </p:pic>
      <p:sp>
        <p:nvSpPr>
          <p:cNvPr id="4" name="Shape 1"/>
          <p:cNvSpPr/>
          <p:nvPr/>
        </p:nvSpPr>
        <p:spPr>
          <a:xfrm>
            <a:off x="4279392" y="2377440"/>
            <a:ext cx="585216" cy="585216"/>
          </a:xfrm>
          <a:prstGeom prst="ellipse">
            <a:avLst/>
          </a:prstGeom>
          <a:solidFill>
            <a:srgbClr val="0FA3B1"/>
          </a:solidFill>
          <a:ln w="12700">
            <a:solidFill>
              <a:srgbClr val="0FA3B1"/>
            </a:solidFill>
            <a:prstDash val="solid"/>
          </a:ln>
        </p:spPr>
      </p:sp>
      <p:pic>
        <p:nvPicPr>
          <p:cNvPr id="5" name="Image 1" descr="preencoded.png">    </p:cNvPr>
          <p:cNvPicPr>
            <a:picLocks noChangeAspect="1"/>
          </p:cNvPicPr>
          <p:nvPr/>
        </p:nvPicPr>
        <p:blipFill>
          <a:blip r:embed="rId2"/>
          <a:stretch>
            <a:fillRect/>
          </a:stretch>
        </p:blipFill>
        <p:spPr>
          <a:xfrm>
            <a:off x="4416552" y="2514600"/>
            <a:ext cx="310896" cy="310896"/>
          </a:xfrm>
          <a:prstGeom prst="rect">
            <a:avLst/>
          </a:prstGeom>
        </p:spPr>
      </p:pic>
      <p:sp>
        <p:nvSpPr>
          <p:cNvPr id="6" name="Text 2"/>
          <p:cNvSpPr txBox="1"/>
          <p:nvPr/>
        </p:nvSpPr>
        <p:spPr>
          <a:xfrm>
            <a:off x="914400" y="3063240"/>
            <a:ext cx="7315200" cy="68580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7" name="Text 3"/>
          <p:cNvSpPr txBox="1"/>
          <p:nvPr/>
        </p:nvSpPr>
        <p:spPr>
          <a:xfrm>
            <a:off x="914400" y="3767328"/>
            <a:ext cx="7315200" cy="320040"/>
          </a:xfrm>
          <a:prstGeom prst="rect">
            <a:avLst/>
          </a:prstGeom>
          <a:noFill/>
          <a:ln/>
        </p:spPr>
        <p:txBody>
          <a:bodyPr wrap="square" lIns="0" tIns="0" rIns="0" bIns="0" rtlCol="0" anchor="ctr"/>
          <a:lstStyle/>
          <a:p>
            <a:pPr algn="ctr" indent="0" marL="0">
              <a:buNone/>
            </a:pPr>
            <a:r>
              <a:rPr lang="en-US" sz="1500" dirty="0">
                <a:solidFill>
                  <a:srgbClr val="7FD6DE"/>
                </a:solidFill>
                <a:latin typeface="Calibri" pitchFamily="34" charset="0"/>
                <a:ea typeface="Calibri" pitchFamily="34" charset="-122"/>
                <a:cs typeface="Calibri" pitchFamily="34" charset="-120"/>
              </a:rPr>
              <a:t>Questions and discussion</a:t>
            </a:r>
            <a:endParaRPr lang="en-US" sz="1500" dirty="0"/>
          </a:p>
        </p:txBody>
      </p:sp>
      <p:sp>
        <p:nvSpPr>
          <p:cNvPr id="8" name="Text 4"/>
          <p:cNvSpPr txBox="1"/>
          <p:nvPr/>
        </p:nvSpPr>
        <p:spPr>
          <a:xfrm>
            <a:off x="365760" y="4846320"/>
            <a:ext cx="5486400" cy="201168"/>
          </a:xfrm>
          <a:prstGeom prst="rect">
            <a:avLst/>
          </a:prstGeom>
          <a:noFill/>
          <a:ln/>
        </p:spPr>
        <p:txBody>
          <a:bodyPr wrap="square" lIns="0" tIns="0" rIns="0" bIns="0" rtlCol="0" anchor="t"/>
          <a:lstStyle/>
          <a:p>
            <a:pPr indent="0" marL="0">
              <a:buNone/>
            </a:pPr>
            <a:r>
              <a:rPr lang="en-US" sz="850" dirty="0">
                <a:solidFill>
                  <a:srgbClr val="B9C7D6"/>
                </a:solidFill>
                <a:latin typeface="Calibri" pitchFamily="34" charset="0"/>
                <a:ea typeface="Calibri" pitchFamily="34" charset="-122"/>
                <a:cs typeface="Calibri" pitchFamily="34" charset="-120"/>
              </a:rPr>
              <a:t>Dynamic ETA Forecasting Engine  |  Problem Statement 26028</a:t>
            </a:r>
            <a:endParaRPr lang="en-US" sz="850" dirty="0"/>
          </a:p>
        </p:txBody>
      </p:sp>
      <p:sp>
        <p:nvSpPr>
          <p:cNvPr id="9" name="Text 5"/>
          <p:cNvSpPr txBox="1"/>
          <p:nvPr/>
        </p:nvSpPr>
        <p:spPr>
          <a:xfrm>
            <a:off x="7863840" y="4846320"/>
            <a:ext cx="914400" cy="201168"/>
          </a:xfrm>
          <a:prstGeom prst="rect">
            <a:avLst/>
          </a:prstGeom>
          <a:noFill/>
          <a:ln/>
        </p:spPr>
        <p:txBody>
          <a:bodyPr wrap="square" lIns="0" tIns="0" rIns="0" bIns="0" rtlCol="0" anchor="t"/>
          <a:lstStyle/>
          <a:p>
            <a:pPr algn="r" indent="0" marL="0">
              <a:buNone/>
            </a:pPr>
            <a:r>
              <a:rPr lang="en-US" sz="850" dirty="0">
                <a:solidFill>
                  <a:srgbClr val="B9C7D6"/>
                </a:solidFill>
                <a:latin typeface="Calibri" pitchFamily="34" charset="0"/>
                <a:ea typeface="Calibri" pitchFamily="34" charset="-122"/>
                <a:cs typeface="Calibri" pitchFamily="34" charset="-120"/>
              </a:rPr>
              <a:t>9 / 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Forecast of ETA for Coaching Trains</dc:title>
  <dc:subject>PptxGenJS Presentation</dc:subject>
  <dc:creator>PptxGenJS</dc:creator>
  <cp:lastModifiedBy>PptxGenJS</cp:lastModifiedBy>
  <cp:revision>1</cp:revision>
  <dcterms:created xsi:type="dcterms:W3CDTF">2026-09-30T06:06:36Z</dcterms:created>
  <dcterms:modified xsi:type="dcterms:W3CDTF">2026-09-30T06:06:36Z</dcterms:modified>
</cp:coreProperties>
</file>